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33333"/>
                </a:solidFill>
                <a:latin typeface="Arial"/>
              </a:rPr>
              <a:t>Monthly Active Users (Millions)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Spotify Growth</c:v>
                </c:pt>
              </c:strCache>
            </c:strRef>
          </c:tx>
          <c:spPr>
            <a:solidFill>
              <a:srgbClr val="1DB954"/>
            </a:solidFill>
            <a:ln w="50800" cap="flat">
              <a:solidFill>
                <a:srgbClr val="1DB95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DB954"/>
              </a:solidFill>
              <a:ln w="9525" cap="flat">
                <a:solidFill>
                  <a:srgbClr val="1DB95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2006</c:v>
                  </c:pt>
                  <c:pt idx="1">
                    <c:v>2009</c:v>
                  </c:pt>
                  <c:pt idx="2">
                    <c:v>2012</c:v>
                  </c:pt>
                  <c:pt idx="3">
                    <c:v>2015</c:v>
                  </c:pt>
                  <c:pt idx="4">
                    <c:v>2017</c:v>
                  </c:pt>
                  <c:pt idx="5">
                    <c:v>2020</c:v>
                  </c:pt>
                  <c:pt idx="6">
                    <c:v>2023</c:v>
                  </c:pt>
                  <c:pt idx="7">
                    <c:v>Now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10</c:v>
                </c:pt>
                <c:pt idx="2">
                  <c:v>30</c:v>
                </c:pt>
                <c:pt idx="3">
                  <c:v>85</c:v>
                </c:pt>
                <c:pt idx="4">
                  <c:v>140</c:v>
                </c:pt>
                <c:pt idx="5">
                  <c:v>300</c:v>
                </c:pt>
                <c:pt idx="6">
                  <c:v>500</c:v>
                </c:pt>
                <c:pt idx="7">
                  <c:v>602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product. Spotify is a global leader in audio streaming — a great choice to showcase PM thinking because it has a rich user base, clear growth metrics, and well-documented friction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Spotify launched in 2006 and hit hypergrowth through 2016. Today it is firmly in Maturity — with 600M+ MAU, growth is single-digit YoY, and strategy has shifted to podcasts, audiobooks, and premium conversion.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Aryan represents the massive free-tier user base in emerging markets like India. He drives Spotify's ad revenue but is also a prime candidate for premium upsell. His frustrations are the raw material for feature innovation.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mood-based discovery flow is Spotify's sweet spot — but it breaks for free users. The forced shuffle and ad interruptions are the exact friction that erodes engagement and drives churn.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 critique shows clear signal: Spotify's free experience treats users as ad-revenue targets, not listeners. The pain of losing intentional control — mood, sequence, context — is the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Mood Lock is grounded in one first-principles insight: users tolerate ads if they feel respected. By batching the ad at a natural break and giving intentional control for 30 minutes, Spotify creates a premium taste — a Trojan horse for premium conversion.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Mood Lock creates a triple-win: users get intentional control, Spotify gets better ad revenue AND higher premium conversion, and the product signals empathy for free-tier users — a major differentiator vs competitors.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1DB954">
              <a:alpha val="12000"/>
            </a:srgbClr>
          </a:solidFill>
          <a:ln w="12700">
            <a:solidFill>
              <a:srgbClr val="1DB954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1DB954">
              <a:alpha val="8000"/>
            </a:srgbClr>
          </a:solidFill>
          <a:ln w="12700">
            <a:solidFill>
              <a:srgbClr val="1DB954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11480"/>
            <a:ext cx="1920240" cy="347472"/>
          </a:xfrm>
          <a:prstGeom prst="roundRect">
            <a:avLst>
              <a:gd name="adj" fmla="val 26316"/>
            </a:avLst>
          </a:prstGeom>
          <a:solidFill>
            <a:srgbClr val="1DB95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11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212"/>
                </a:solidFill>
              </a:rPr>
              <a:t>PRODUCT TEARDOWN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Analysis &amp; Feature Innovation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deep-dive product teardown using PM frameworks — from user empathy to feature design.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2514600" cy="1325880"/>
          </a:xfrm>
          <a:prstGeom prst="roundRect">
            <a:avLst>
              <a:gd name="adj" fmla="val 8276"/>
            </a:avLst>
          </a:prstGeom>
          <a:solidFill>
            <a:srgbClr val="24242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3375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602M+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39136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Users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3246120"/>
            <a:ext cx="2514600" cy="1325880"/>
          </a:xfrm>
          <a:prstGeom prst="roundRect">
            <a:avLst>
              <a:gd name="adj" fmla="val 8276"/>
            </a:avLst>
          </a:prstGeom>
          <a:solidFill>
            <a:srgbClr val="24242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33375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239M+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46120" y="39136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Subscribers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3246120"/>
            <a:ext cx="2514600" cy="1325880"/>
          </a:xfrm>
          <a:prstGeom prst="roundRect">
            <a:avLst>
              <a:gd name="adj" fmla="val 8276"/>
            </a:avLst>
          </a:prstGeom>
          <a:solidFill>
            <a:srgbClr val="24242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33375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035040" y="39136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Available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Matters 6.0 · Week 1 Assignment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Life Cycle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0" y="45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Spotify stand today?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960120"/>
            <a:ext cx="2971800" cy="640080"/>
          </a:xfrm>
          <a:prstGeom prst="roundRect">
            <a:avLst>
              <a:gd name="adj" fmla="val 14286"/>
            </a:avLst>
          </a:prstGeom>
          <a:solidFill>
            <a:srgbClr val="E8E8E8"/>
          </a:solidFill>
          <a:ln/>
        </p:spPr>
      </p:sp>
      <p:sp>
        <p:nvSpPr>
          <p:cNvPr id="7" name="Text 4"/>
          <p:cNvSpPr/>
          <p:nvPr/>
        </p:nvSpPr>
        <p:spPr>
          <a:xfrm>
            <a:off x="5760720" y="97840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60720" y="12801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2006–08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1764792"/>
            <a:ext cx="2971800" cy="640080"/>
          </a:xfrm>
          <a:prstGeom prst="roundRect">
            <a:avLst>
              <a:gd name="adj" fmla="val 14286"/>
            </a:avLst>
          </a:prstGeom>
          <a:solidFill>
            <a:srgbClr val="E8E8E8"/>
          </a:solidFill>
          <a:ln/>
        </p:spPr>
      </p:sp>
      <p:sp>
        <p:nvSpPr>
          <p:cNvPr id="10" name="Text 7"/>
          <p:cNvSpPr/>
          <p:nvPr/>
        </p:nvSpPr>
        <p:spPr>
          <a:xfrm>
            <a:off x="5760720" y="17830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760720" y="20848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2009–16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2569464"/>
            <a:ext cx="2971800" cy="640080"/>
          </a:xfrm>
          <a:prstGeom prst="roundRect">
            <a:avLst>
              <a:gd name="adj" fmla="val 14286"/>
            </a:avLst>
          </a:prstGeom>
          <a:solidFill>
            <a:srgbClr val="1DB954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60720" y="258775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✓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760720" y="288950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4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2017–Now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3374136"/>
            <a:ext cx="2971800" cy="640080"/>
          </a:xfrm>
          <a:prstGeom prst="roundRect">
            <a:avLst>
              <a:gd name="adj" fmla="val 14286"/>
            </a:avLst>
          </a:prstGeom>
          <a:solidFill>
            <a:srgbClr val="E8E8E8"/>
          </a:solidFill>
          <a:ln/>
        </p:spPr>
      </p:sp>
      <p:sp>
        <p:nvSpPr>
          <p:cNvPr id="16" name="Text 13"/>
          <p:cNvSpPr/>
          <p:nvPr/>
        </p:nvSpPr>
        <p:spPr>
          <a:xfrm>
            <a:off x="5760720" y="339242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760720" y="369417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60720" y="4251960"/>
            <a:ext cx="2971800" cy="713232"/>
          </a:xfrm>
          <a:prstGeom prst="roundRect">
            <a:avLst>
              <a:gd name="adj" fmla="val 12821"/>
            </a:avLst>
          </a:prstGeom>
          <a:solidFill>
            <a:srgbClr val="FFFBEA"/>
          </a:solidFill>
          <a:ln/>
        </p:spPr>
      </p:sp>
      <p:sp>
        <p:nvSpPr>
          <p:cNvPr id="19" name="Text 16"/>
          <p:cNvSpPr/>
          <p:nvPr/>
        </p:nvSpPr>
        <p:spPr>
          <a:xfrm>
            <a:off x="5806440" y="4279392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Maturity? 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Slowing user growth, intense competition (Apple Music, YT Music), focus on monetisation &amp; retention over acquisition.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1DB95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949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1212"/>
                </a:solidFill>
              </a:rPr>
              <a:t>Free-tier power user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2560320" cy="3840480"/>
          </a:xfrm>
          <a:prstGeom prst="roundRect">
            <a:avLst>
              <a:gd name="adj" fmla="val 5357"/>
            </a:avLst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1170432"/>
            <a:ext cx="1005840" cy="100584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17043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🎧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Mehta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33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· Delhi · College student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B.Tech, 3rd year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3558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Android power user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6941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No disposable income for premium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0325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3–4 hrs/day on Spotify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0" y="987552"/>
            <a:ext cx="2834640" cy="1691640"/>
          </a:xfrm>
          <a:prstGeom prst="roundRect">
            <a:avLst>
              <a:gd name="adj" fmla="val 6486"/>
            </a:avLst>
          </a:prstGeom>
          <a:solidFill>
            <a:srgbClr val="1A3A2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46120" y="1078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14447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Discover music that fits his mood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46120" y="179222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Share playlists with friends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213969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Study / workout without interruption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987552"/>
            <a:ext cx="2834640" cy="1691640"/>
          </a:xfrm>
          <a:prstGeom prst="roundRect">
            <a:avLst>
              <a:gd name="adj" fmla="val 6486"/>
            </a:avLst>
          </a:prstGeom>
          <a:solidFill>
            <a:srgbClr val="1A2A3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1078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Motivations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14447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Feels identity is tied to music taste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179222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Loves recommending songs to friends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213969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Spotify wrapped is a yearly tradition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08960" y="2852928"/>
            <a:ext cx="2834640" cy="1691640"/>
          </a:xfrm>
          <a:prstGeom prst="roundRect">
            <a:avLst>
              <a:gd name="adj" fmla="val 6486"/>
            </a:avLst>
          </a:prstGeom>
          <a:solidFill>
            <a:srgbClr val="3A1A1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46120" y="2944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 Frustrations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46120" y="33101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Ads break focus at crucial moments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46120" y="3657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Can't skip more than 6 songs/hour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6120" y="40050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Shuffle-only on free tier is limiting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852928"/>
            <a:ext cx="2834640" cy="1691640"/>
          </a:xfrm>
          <a:prstGeom prst="roundRect">
            <a:avLst>
              <a:gd name="adj" fmla="val 6486"/>
            </a:avLst>
          </a:prstGeom>
          <a:solidFill>
            <a:srgbClr val="2A1A3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63640" y="2944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Key Needs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63640" y="33101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More control without paying ₹119/mo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3657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Better mood-based discovery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40050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Seamless cross-device experience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· Mood-Based Music Discovery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3977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243584"/>
            <a:ext cx="438912" cy="438912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243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8408" y="1078992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8408" y="1408176"/>
            <a:ext cx="3182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Spotify icon. App loads Home feed with algorithmically curated sections.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04288" y="2084832"/>
            <a:ext cx="0" cy="201168"/>
          </a:xfrm>
          <a:prstGeom prst="line">
            <a:avLst/>
          </a:prstGeom>
          <a:noFill/>
          <a:ln w="25400">
            <a:solidFill>
              <a:srgbClr val="BBBB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286000"/>
            <a:ext cx="3977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" y="2542032"/>
            <a:ext cx="438912" cy="438912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" y="2542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78408" y="237744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/ Search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78408" y="2706624"/>
            <a:ext cx="3182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visits Search, picks a mood category (Chill, Focus, Workout) or types keyword.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304288" y="3383280"/>
            <a:ext cx="0" cy="201168"/>
          </a:xfrm>
          <a:prstGeom prst="line">
            <a:avLst/>
          </a:prstGeom>
          <a:noFill/>
          <a:ln w="25400">
            <a:solidFill>
              <a:srgbClr val="BBBB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584448"/>
            <a:ext cx="3977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" y="3840480"/>
            <a:ext cx="438912" cy="438912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8408" y="367588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Playlist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78408" y="4005072"/>
            <a:ext cx="3182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shows curated &amp; algorithmic playlists. User taps one that matches mood.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987552"/>
            <a:ext cx="3977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18888" y="1243584"/>
            <a:ext cx="438912" cy="438912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23" name="Text 21"/>
          <p:cNvSpPr/>
          <p:nvPr/>
        </p:nvSpPr>
        <p:spPr>
          <a:xfrm>
            <a:off x="4818888" y="1243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67528" y="1078992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 Starts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67528" y="1408176"/>
            <a:ext cx="3182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plays. Free users encounter shuffled order, skip limits &amp; periodic ads.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93408" y="2084832"/>
            <a:ext cx="0" cy="201168"/>
          </a:xfrm>
          <a:prstGeom prst="line">
            <a:avLst/>
          </a:prstGeom>
          <a:noFill/>
          <a:ln w="25400">
            <a:solidFill>
              <a:srgbClr val="BBBB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2286000"/>
            <a:ext cx="3977640" cy="1097280"/>
          </a:xfrm>
          <a:prstGeom prst="roundRect">
            <a:avLst>
              <a:gd name="adj" fmla="val 8333"/>
            </a:avLst>
          </a:prstGeom>
          <a:solidFill>
            <a:srgbClr val="FFF0EE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18888" y="2542032"/>
            <a:ext cx="438912" cy="438912"/>
          </a:xfrm>
          <a:prstGeom prst="ellipse">
            <a:avLst/>
          </a:prstGeom>
          <a:solidFill>
            <a:srgbClr val="F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4818888" y="2542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67528" y="237744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Point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67528" y="2706624"/>
            <a:ext cx="3182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interrupts mid-session. User can't skip song. Mood experience is broken.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693408" y="3383280"/>
            <a:ext cx="0" cy="201168"/>
          </a:xfrm>
          <a:prstGeom prst="line">
            <a:avLst/>
          </a:prstGeom>
          <a:noFill/>
          <a:ln w="25400">
            <a:solidFill>
              <a:srgbClr val="BBBBB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3584448"/>
            <a:ext cx="3977640" cy="1097280"/>
          </a:xfrm>
          <a:prstGeom prst="roundRect">
            <a:avLst>
              <a:gd name="adj" fmla="val 8333"/>
            </a:avLst>
          </a:prstGeom>
          <a:solidFill>
            <a:srgbClr val="FFF8EC"/>
          </a:solidFill>
          <a:ln w="19050">
            <a:solidFill>
              <a:srgbClr val="FFB34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18888" y="3840480"/>
            <a:ext cx="438912" cy="438912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35" name="Text 33"/>
          <p:cNvSpPr/>
          <p:nvPr/>
        </p:nvSpPr>
        <p:spPr>
          <a:xfrm>
            <a:off x="4818888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67528" y="3675888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67528" y="4005072"/>
            <a:ext cx="3182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either tolerates the friction, leaves the app, or considers going Premium.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4645152"/>
            <a:ext cx="8503920" cy="411480"/>
          </a:xfrm>
          <a:prstGeom prst="roundRect">
            <a:avLst>
              <a:gd name="adj" fmla="val 22222"/>
            </a:avLst>
          </a:prstGeom>
          <a:solidFill>
            <a:srgbClr val="FFF3CD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663440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Key pain point: Ads &amp; skip limits destroy the mood loop experience for free-tier users — this is the core friction driving feature innovation.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Critique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works, what doesn't, and what's missing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078992"/>
            <a:ext cx="2724912" cy="3822192"/>
          </a:xfrm>
          <a:prstGeom prst="roundRect">
            <a:avLst>
              <a:gd name="adj" fmla="val 4698"/>
            </a:avLst>
          </a:prstGeom>
          <a:solidFill>
            <a:srgbClr val="122A1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7043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Works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591056"/>
            <a:ext cx="2377440" cy="0"/>
          </a:xfrm>
          <a:prstGeom prst="line">
            <a:avLst/>
          </a:prstGeom>
          <a:noFill/>
          <a:ln w="12700">
            <a:solidFill>
              <a:srgbClr val="1DB954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682496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Discover Weekly &amp; Wrapped are world-class personalisation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" y="2377440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Cross-device sync is seamless and instant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3072384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Podcast + music under one roof reduces app-switching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3767328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Spotify Blend strengthens social connection around music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73552" y="1078992"/>
            <a:ext cx="2724912" cy="3822192"/>
          </a:xfrm>
          <a:prstGeom prst="roundRect">
            <a:avLst>
              <a:gd name="adj" fmla="val 4698"/>
            </a:avLst>
          </a:prstGeom>
          <a:solidFill>
            <a:srgbClr val="2A121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117043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What Doesn't Work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383280" y="1591056"/>
            <a:ext cx="2377440" cy="0"/>
          </a:xfrm>
          <a:prstGeom prst="line">
            <a:avLst/>
          </a:prstGeom>
          <a:noFill/>
          <a:ln w="127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682496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Free-tier shuffle lock kills intent-driven listening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01568" y="2377440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Mid-session ads shatter mood and context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01568" y="3072384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Podcast discoverability is still poor vs music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01568" y="3767328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lyrics sync on free tier (locked behind paywall)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99632" y="1078992"/>
            <a:ext cx="2724912" cy="3822192"/>
          </a:xfrm>
          <a:prstGeom prst="roundRect">
            <a:avLst>
              <a:gd name="adj" fmla="val 4698"/>
            </a:avLst>
          </a:prstGeom>
          <a:solidFill>
            <a:srgbClr val="1A1A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09360" y="117043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Missed Opportunities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09360" y="1591056"/>
            <a:ext cx="2377440" cy="0"/>
          </a:xfrm>
          <a:prstGeom prst="line">
            <a:avLst/>
          </a:prstGeom>
          <a:noFill/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1682496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mood or context tagging for personal libraries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27648" y="2377440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Group listening parties lack real-time collaboration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27648" y="3072384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Creator tools are under-developed vs Apple/SoundCloud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27648" y="3767328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sleep timer or session-length preferences for free users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" y="4645152"/>
            <a:ext cx="8449056" cy="438912"/>
          </a:xfrm>
          <a:prstGeom prst="roundRect">
            <a:avLst>
              <a:gd name="adj" fmla="val 20833"/>
            </a:avLst>
          </a:prstGeom>
          <a:solidFill>
            <a:srgbClr val="1A0D1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6634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Core Pain Point Selected for Innovation: Free-tier users can't listen intentionally — the shuffle-only &amp; skip-limit model makes mood-based listening impossible.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191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Innovation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0" y="18288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1DB954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82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212"/>
                </a:solidFill>
              </a:rPr>
              <a:t>New Feature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114800" cy="1417320"/>
          </a:xfrm>
          <a:prstGeom prst="roundRect">
            <a:avLst>
              <a:gd name="adj" fmla="val 9032"/>
            </a:avLst>
          </a:prstGeom>
          <a:solidFill>
            <a:srgbClr val="12121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33272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Mood Lock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Intentional, ad-aware listening sessions for free-tier users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2788920" cy="2468880"/>
          </a:xfrm>
          <a:prstGeom prst="roundRect">
            <a:avLst>
              <a:gd name="adj" fmla="val 4444"/>
            </a:avLst>
          </a:prstGeom>
          <a:solidFill>
            <a:srgbClr val="FFF0E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2606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The Problem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301752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users lose control of their listening experience. Forced shuffle &amp; ads break mood-based, intentional listening — especially during study, workout, or commute sessions.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2514600"/>
            <a:ext cx="2788920" cy="2468880"/>
          </a:xfrm>
          <a:prstGeom prst="roundRect">
            <a:avLst>
              <a:gd name="adj" fmla="val 4444"/>
            </a:avLst>
          </a:prstGeom>
          <a:solidFill>
            <a:srgbClr val="EEFFF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01568" y="2606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The Solution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01568" y="301752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"Mood Lock" lets free users set a 30-minute listening context (Study / Workout / Sleep / Focus). Within that window, they get ordered playback of a curated playlist, reduced ad frequency (1 ad per session), and unlimited skips.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514600"/>
            <a:ext cx="2788920" cy="2468880"/>
          </a:xfrm>
          <a:prstGeom prst="roundRect">
            <a:avLst>
              <a:gd name="adj" fmla="val 4444"/>
            </a:avLst>
          </a:prstGeom>
          <a:solidFill>
            <a:srgbClr val="EEF2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27648" y="2606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How It Works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27648" y="301752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picks a mood → Spotify serves a context-matched playlist → User gets 30 mins of intentional play, 1 mid-session ad (unskippable, 15s) → At the end, a prompt: 'Continue with Premium for uninterrupted listening?'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960120"/>
            <a:ext cx="4206240" cy="1417320"/>
          </a:xfrm>
          <a:prstGeom prst="roundRect">
            <a:avLst>
              <a:gd name="adj" fmla="val 7742"/>
            </a:avLst>
          </a:prstGeom>
          <a:solidFill>
            <a:srgbClr val="FFFBE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10241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First Principles Thinking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138988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don't want free music — they want uninterrupted emotional experience. Ads don't inherently break that; badly timed ads do. Mood Lock restructures the ad placement to respect the listening context, making it a value exchange rather than an intrusion.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impact · Business impact · Lo-Fi Wireframe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7472" y="1024128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1A3A2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0789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1463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+15–25%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8912" y="1828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retention uplift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96312" y="1024128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1A2A3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96312" y="10789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96312" y="1463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+8–12%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87752" y="1828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conversion from free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024128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2A1A3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45152" y="10789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45152" y="1463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+20pts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36592" y="1828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satisfaction (NPS proxy)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93992" y="1024128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2A2A1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93992" y="10789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93992" y="1463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85432" y="1828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CPM (better context targeting)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2606040"/>
            <a:ext cx="3931920" cy="2377440"/>
          </a:xfrm>
          <a:prstGeom prst="roundRect">
            <a:avLst>
              <a:gd name="adj" fmla="val 5769"/>
            </a:avLst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267919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Lo-Fi Wireframe · Mood Lock Screen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261872" y="3035808"/>
            <a:ext cx="1508760" cy="1828800"/>
          </a:xfrm>
          <a:prstGeom prst="roundRect">
            <a:avLst>
              <a:gd name="adj" fmla="val 8485"/>
            </a:avLst>
          </a:prstGeom>
          <a:solidFill>
            <a:srgbClr val="111111"/>
          </a:solidFill>
          <a:ln w="25400">
            <a:solidFill>
              <a:srgbClr val="44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5880" y="3154680"/>
            <a:ext cx="1371600" cy="15727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Shape 22"/>
          <p:cNvSpPr/>
          <p:nvPr/>
        </p:nvSpPr>
        <p:spPr>
          <a:xfrm>
            <a:off x="1335024" y="3200400"/>
            <a:ext cx="621792" cy="384048"/>
          </a:xfrm>
          <a:prstGeom prst="roundRect">
            <a:avLst>
              <a:gd name="adj" fmla="val 16667"/>
            </a:avLst>
          </a:prstGeom>
          <a:solidFill>
            <a:srgbClr val="1DB954"/>
          </a:solidFill>
          <a:ln/>
        </p:spPr>
      </p:sp>
      <p:sp>
        <p:nvSpPr>
          <p:cNvPr id="25" name="Text 23"/>
          <p:cNvSpPr/>
          <p:nvPr/>
        </p:nvSpPr>
        <p:spPr>
          <a:xfrm>
            <a:off x="1335024" y="320040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Study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020824" y="3200400"/>
            <a:ext cx="621792" cy="384048"/>
          </a:xfrm>
          <a:prstGeom prst="roundRect">
            <a:avLst>
              <a:gd name="adj" fmla="val 16667"/>
            </a:avLst>
          </a:prstGeom>
          <a:solidFill>
            <a:srgbClr val="2D2D2D"/>
          </a:solidFill>
          <a:ln/>
        </p:spPr>
      </p:sp>
      <p:sp>
        <p:nvSpPr>
          <p:cNvPr id="27" name="Text 25"/>
          <p:cNvSpPr/>
          <p:nvPr/>
        </p:nvSpPr>
        <p:spPr>
          <a:xfrm>
            <a:off x="2020824" y="320040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Workout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335024" y="3675888"/>
            <a:ext cx="621792" cy="384048"/>
          </a:xfrm>
          <a:prstGeom prst="roundRect">
            <a:avLst>
              <a:gd name="adj" fmla="val 16667"/>
            </a:avLst>
          </a:prstGeom>
          <a:solidFill>
            <a:srgbClr val="2D2D2D"/>
          </a:solidFill>
          <a:ln/>
        </p:spPr>
      </p:sp>
      <p:sp>
        <p:nvSpPr>
          <p:cNvPr id="29" name="Text 27"/>
          <p:cNvSpPr/>
          <p:nvPr/>
        </p:nvSpPr>
        <p:spPr>
          <a:xfrm>
            <a:off x="1335024" y="367588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Sleep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020824" y="3675888"/>
            <a:ext cx="621792" cy="384048"/>
          </a:xfrm>
          <a:prstGeom prst="roundRect">
            <a:avLst>
              <a:gd name="adj" fmla="val 16667"/>
            </a:avLst>
          </a:prstGeom>
          <a:solidFill>
            <a:srgbClr val="2D2D2D"/>
          </a:solidFill>
          <a:ln/>
        </p:spPr>
      </p:sp>
      <p:sp>
        <p:nvSpPr>
          <p:cNvPr id="31" name="Text 29"/>
          <p:cNvSpPr/>
          <p:nvPr/>
        </p:nvSpPr>
        <p:spPr>
          <a:xfrm>
            <a:off x="2020824" y="367588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🧘 Focus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353312" y="4224528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1DB954"/>
          </a:solidFill>
          <a:ln/>
        </p:spPr>
      </p:sp>
      <p:sp>
        <p:nvSpPr>
          <p:cNvPr id="33" name="Text 31"/>
          <p:cNvSpPr/>
          <p:nvPr/>
        </p:nvSpPr>
        <p:spPr>
          <a:xfrm>
            <a:off x="1353312" y="422452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Session →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852928" y="3429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Mood selection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06624" y="3520440"/>
            <a:ext cx="146304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52928" y="42793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30-min session CTA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34840" y="2606040"/>
            <a:ext cx="4343400" cy="2377440"/>
          </a:xfrm>
          <a:prstGeom prst="roundRect">
            <a:avLst>
              <a:gd name="adj" fmla="val 5769"/>
            </a:avLst>
          </a:prstGeom>
          <a:solidFill>
            <a:srgbClr val="19191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0" y="27066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Wins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572000" y="3127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🧑‍🎓  For Users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0" y="3383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over listening experience without paying. A real reason to stay on free tier.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0" y="37307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For Spotify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572000" y="39867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ad CPM through context-matched placement. A premium taste that drives conversion.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0" y="43342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For Metrics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72000" y="45902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DAU, session length, and free→premium CVR all improve with a single feature.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Spotify Product Teardown – PM Assignment</dc:title>
  <dc:subject>PptxGenJS Presentation</dc:subject>
  <dc:creator>PptxGenJS</dc:creator>
  <cp:lastModifiedBy>PptxGenJS</cp:lastModifiedBy>
  <cp:revision>1</cp:revision>
  <dcterms:created xsi:type="dcterms:W3CDTF">2026-06-22T11:22:22Z</dcterms:created>
  <dcterms:modified xsi:type="dcterms:W3CDTF">2026-06-22T11:22:22Z</dcterms:modified>
</cp:coreProperties>
</file>