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365760"/>
            <a:ext cx="2011680" cy="201168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32588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777240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WEEK 3 · E-CELL IIT GUWAHATI PM COURSE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548640" y="1097280"/>
            <a:ext cx="5029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TrustFix</a:t>
            </a:r>
            <a:endParaRPr lang="en-US" sz="5600" dirty="0"/>
          </a:p>
        </p:txBody>
      </p:sp>
      <p:sp>
        <p:nvSpPr>
          <p:cNvPr id="7" name="Text 4"/>
          <p:cNvSpPr/>
          <p:nvPr/>
        </p:nvSpPr>
        <p:spPr>
          <a:xfrm>
            <a:off x="548640" y="21488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CFB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Wireframes to Working Prototype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2724912"/>
            <a:ext cx="292608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2907792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B4C8"/>
                </a:solidFill>
              </a:rPr>
              <a:t>Built with vibe coding &amp; AI-assisted prototyping.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0B4C8"/>
                </a:solidFill>
              </a:rPr>
              <a:t>Both customer and professional journeys, fully interactive.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43891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PM Course · Week 3 Submission ·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7315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CHANGED &amp; WHY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406640" y="310896"/>
            <a:ext cx="1645920" cy="237744"/>
          </a:xfrm>
          <a:prstGeom prst="roundRect">
            <a:avLst>
              <a:gd name="adj" fmla="val 30769"/>
            </a:avLst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7406640" y="310896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SLIDE 02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Building the prototype surfaced 5 product decisions we'd glossed over in wireframes.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8412480" cy="594360"/>
          </a:xfrm>
          <a:prstGeom prst="roundRect">
            <a:avLst>
              <a:gd name="adj" fmla="val 13846"/>
            </a:avLst>
          </a:prstGeom>
          <a:solidFill>
            <a:srgbClr val="EF4444">
              <a:alpha val="1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572768"/>
            <a:ext cx="274320" cy="274320"/>
          </a:xfrm>
          <a:prstGeom prst="ellipse">
            <a:avLst/>
          </a:prstGeom>
          <a:solidFill>
            <a:srgbClr val="EF4444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1581912"/>
            <a:ext cx="201168" cy="2011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1472184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Edge case: Zero verified pros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017520" y="14630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34155"/>
                </a:solidFill>
              </a:rPr>
              <a:t>Before: Assumed supply exists at launch.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760720" y="1508760"/>
            <a:ext cx="0" cy="41148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52160" y="14630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✓ Fixed: Added empty-state copy + toggle. Default to all pros in beta until supply is seeded.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65760" y="2130552"/>
            <a:ext cx="8412480" cy="594360"/>
          </a:xfrm>
          <a:prstGeom prst="roundRect">
            <a:avLst>
              <a:gd name="adj" fmla="val 13846"/>
            </a:avLst>
          </a:prstGeom>
          <a:solidFill>
            <a:srgbClr val="F97316">
              <a:alpha val="10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457200" y="2286000"/>
            <a:ext cx="274320" cy="27432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" y="2295144"/>
            <a:ext cx="201168" cy="20116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822960" y="2185416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</a:rPr>
              <a:t>Booking timeout UX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3017520" y="217627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34155"/>
                </a:solidFill>
              </a:rPr>
              <a:t>Before: Request silently expired with no feedback.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5760720" y="2221992"/>
            <a:ext cx="0" cy="41148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852160" y="2176272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✓ Fixed: 5-min visible countdown on pro dashboard. Customer sees 'finding your pro' spinner.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365760" y="2843784"/>
            <a:ext cx="8412480" cy="594360"/>
          </a:xfrm>
          <a:prstGeom prst="roundRect">
            <a:avLst>
              <a:gd name="adj" fmla="val 13846"/>
            </a:avLst>
          </a:prstGeom>
          <a:solidFill>
            <a:srgbClr val="10B981">
              <a:alpha val="10000"/>
            </a:srgbClr>
          </a:solidFill>
          <a:ln/>
        </p:spPr>
      </p:sp>
      <p:sp>
        <p:nvSpPr>
          <p:cNvPr id="22" name="Shape 18"/>
          <p:cNvSpPr/>
          <p:nvPr/>
        </p:nvSpPr>
        <p:spPr>
          <a:xfrm>
            <a:off x="457200" y="2999232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3008376"/>
            <a:ext cx="201168" cy="20116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22960" y="2898648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Dual job-done confirmation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3017520" y="2889504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34155"/>
                </a:solidFill>
              </a:rPr>
              <a:t>Before: Pro marks done → payment releases immediately.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5760720" y="2935224"/>
            <a:ext cx="0" cy="41148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5852160" y="2889504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✓ Fixed: Customer must also confirm. Review &amp; 7-day guarantee only unlock after customer confirms.</a:t>
            </a:r>
            <a:endParaRPr lang="en-US" sz="850" dirty="0"/>
          </a:p>
        </p:txBody>
      </p:sp>
      <p:sp>
        <p:nvSpPr>
          <p:cNvPr id="28" name="Shape 23"/>
          <p:cNvSpPr/>
          <p:nvPr/>
        </p:nvSpPr>
        <p:spPr>
          <a:xfrm>
            <a:off x="365760" y="3557016"/>
            <a:ext cx="8412480" cy="594360"/>
          </a:xfrm>
          <a:prstGeom prst="roundRect">
            <a:avLst>
              <a:gd name="adj" fmla="val 13846"/>
            </a:avLst>
          </a:prstGeom>
          <a:solidFill>
            <a:srgbClr val="0D9488">
              <a:alpha val="10000"/>
            </a:srgbClr>
          </a:solidFill>
          <a:ln/>
        </p:spPr>
      </p:sp>
      <p:sp>
        <p:nvSpPr>
          <p:cNvPr id="29" name="Shape 24"/>
          <p:cNvSpPr/>
          <p:nvPr/>
        </p:nvSpPr>
        <p:spPr>
          <a:xfrm>
            <a:off x="457200" y="3712464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" y="3721608"/>
            <a:ext cx="201168" cy="201168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822960" y="3611880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Availability toggle = active gate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3017520" y="3602736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34155"/>
                </a:solidFill>
              </a:rPr>
              <a:t>Before: Toggle was cosmetic UI — didn't affect booking logic.</a:t>
            </a:r>
            <a:endParaRPr lang="en-US" sz="850" dirty="0"/>
          </a:p>
        </p:txBody>
      </p:sp>
      <p:sp>
        <p:nvSpPr>
          <p:cNvPr id="33" name="Shape 27"/>
          <p:cNvSpPr/>
          <p:nvPr/>
        </p:nvSpPr>
        <p:spPr>
          <a:xfrm>
            <a:off x="5760720" y="3648456"/>
            <a:ext cx="0" cy="41148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5852160" y="3602736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✓ Fixed: Toggle now actively gates incoming requests. Offline pros receive zero new bookings.</a:t>
            </a:r>
            <a:endParaRPr lang="en-US" sz="850" dirty="0"/>
          </a:p>
        </p:txBody>
      </p:sp>
      <p:sp>
        <p:nvSpPr>
          <p:cNvPr id="35" name="Shape 29"/>
          <p:cNvSpPr/>
          <p:nvPr/>
        </p:nvSpPr>
        <p:spPr>
          <a:xfrm>
            <a:off x="365760" y="4270248"/>
            <a:ext cx="8412480" cy="594360"/>
          </a:xfrm>
          <a:prstGeom prst="roundRect">
            <a:avLst>
              <a:gd name="adj" fmla="val 13846"/>
            </a:avLst>
          </a:prstGeom>
          <a:solidFill>
            <a:srgbClr val="0F2044">
              <a:alpha val="10000"/>
            </a:srgbClr>
          </a:solidFill>
          <a:ln/>
        </p:spPr>
      </p:sp>
      <p:sp>
        <p:nvSpPr>
          <p:cNvPr id="36" name="Shape 30"/>
          <p:cNvSpPr/>
          <p:nvPr/>
        </p:nvSpPr>
        <p:spPr>
          <a:xfrm>
            <a:off x="457200" y="4425696"/>
            <a:ext cx="274320" cy="274320"/>
          </a:xfrm>
          <a:prstGeom prst="ellipse">
            <a:avLst/>
          </a:prstGeom>
          <a:solidFill>
            <a:srgbClr val="0F2044"/>
          </a:solidFill>
          <a:ln/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" y="4434840"/>
            <a:ext cx="201168" cy="201168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822960" y="4325112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044"/>
                </a:solidFill>
              </a:rPr>
              <a:t>Cash payment: supply risk</a:t>
            </a:r>
            <a:endParaRPr lang="en-US" sz="1000" dirty="0"/>
          </a:p>
        </p:txBody>
      </p:sp>
      <p:sp>
        <p:nvSpPr>
          <p:cNvPr id="39" name="Text 32"/>
          <p:cNvSpPr/>
          <p:nvPr/>
        </p:nvSpPr>
        <p:spPr>
          <a:xfrm>
            <a:off x="3017520" y="431596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34155"/>
                </a:solidFill>
              </a:rPr>
              <a:t>Before: UPI/Card assumed sufficient for India.</a:t>
            </a:r>
            <a:endParaRPr lang="en-US" sz="850" dirty="0"/>
          </a:p>
        </p:txBody>
      </p:sp>
      <p:sp>
        <p:nvSpPr>
          <p:cNvPr id="40" name="Shape 33"/>
          <p:cNvSpPr/>
          <p:nvPr/>
        </p:nvSpPr>
        <p:spPr>
          <a:xfrm>
            <a:off x="5760720" y="4361688"/>
            <a:ext cx="0" cy="41148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5852160" y="431596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✓ Fixed: Cash retained. Removing it kills supply-side adoption in Tier-2 cities.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7315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 SCOPE — WHAT WE BUILT &amp; WHY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406640" y="310896"/>
            <a:ext cx="1645920" cy="237744"/>
          </a:xfrm>
          <a:prstGeom prst="roundRect">
            <a:avLst>
              <a:gd name="adj" fmla="val 30769"/>
            </a:avLst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7406640" y="310896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SLIDE 03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</a:rPr>
              <a:t>Depth on highest-risk flows — not shallow coverage of everything.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325880"/>
            <a:ext cx="493776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417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✅  BUILT (8 flows)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81051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9488"/>
                </a:solidFill>
              </a:rPr>
              <a:t>●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85800" y="181051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</a:rPr>
              <a:t>Splash + OTP login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468880" y="181051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Trust starts at login. Verified phone = identity anchor.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02920" y="217627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9488"/>
                </a:solidFill>
              </a:rPr>
              <a:t>●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85800" y="217627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</a:rPr>
              <a:t>Home + category grid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468880" y="217627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Service discovery is the most common entry point.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02920" y="254203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9488"/>
                </a:solidFill>
              </a:rPr>
              <a:t>●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85800" y="254203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</a:rPr>
              <a:t>Search + verified filter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468880" y="254203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Filter surfaced empty-state bug — critical to validate.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02920" y="290779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9488"/>
                </a:solidFill>
              </a:rPr>
              <a:t>●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85800" y="290779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</a:rPr>
              <a:t>Pro profile (3 tabs)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468880" y="290779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Reviews / pricing / overview — the 3 trust signals.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02920" y="327355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9488"/>
                </a:solidFill>
              </a:rPr>
              <a:t>●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85800" y="327355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</a:rPr>
              <a:t>3-step booking flow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468880" y="327355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Core conversion funnel: date → address → payment.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02920" y="363931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9488"/>
                </a:solidFill>
              </a:rPr>
              <a:t>●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85800" y="363931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</a:rPr>
              <a:t>Confirmed + live tracking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468880" y="363931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Post-booking anxiety is a trust risk. Tracking reduces no-show fear.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02920" y="400507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9488"/>
                </a:solidFill>
              </a:rPr>
              <a:t>●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85800" y="400507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</a:rPr>
              <a:t>Rating &amp; review flow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468880" y="400507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Trust flywheel depends on this completing correctly.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02920" y="437083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9488"/>
                </a:solidFill>
              </a:rPr>
              <a:t>●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85800" y="437083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</a:rPr>
              <a:t>Pro dashboard (3 screens)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468880" y="437083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Validates availability toggle, job accept/decline, earnings.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486400" y="1325880"/>
            <a:ext cx="3291840" cy="35661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623560" y="14173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⏭  DELIBERATELY SKIPPED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577840" y="181051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97316"/>
                </a:solidFill>
              </a:rPr>
              <a:t>○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760720" y="1810512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</a:rPr>
              <a:t>In-app chat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760720" y="2066544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WhatsApp fallback for MVP. High build effort for prototype.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577840" y="249631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97316"/>
                </a:solidFill>
              </a:rPr>
              <a:t>○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760720" y="2496312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</a:rPr>
              <a:t>Admin dispute panel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760720" y="2752344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Internal tool — deferred post-launch.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577840" y="318211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97316"/>
                </a:solidFill>
              </a:rPr>
              <a:t>○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760720" y="3182112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</a:rPr>
              <a:t>KYC upload flow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760720" y="3438144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Native device feature; assumed completion in prototype.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577840" y="386791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97316"/>
                </a:solidFill>
              </a:rPr>
              <a:t>○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760720" y="3867912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</a:rPr>
              <a:t>Referral &amp; notifications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760720" y="4123944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Growth layer — not core to trust validation.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65760" y="4800600"/>
            <a:ext cx="8412480" cy="237744"/>
          </a:xfrm>
          <a:prstGeom prst="roundRect">
            <a:avLst>
              <a:gd name="adj" fmla="val 26923"/>
            </a:avLst>
          </a:prstGeom>
          <a:solidFill>
            <a:srgbClr val="CCFBF1"/>
          </a:solidFill>
          <a:ln/>
        </p:spPr>
      </p:sp>
      <p:sp>
        <p:nvSpPr>
          <p:cNvPr id="48" name="Text 46"/>
          <p:cNvSpPr/>
          <p:nvPr/>
        </p:nvSpPr>
        <p:spPr>
          <a:xfrm>
            <a:off x="365760" y="4800600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2044"/>
                </a:solidFill>
              </a:rPr>
              <a:t>Prioritisation principle: Build what you can't test on paper. Skip what's obvious to implement.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 WALKTHROUGH — CUSTOMER JOURNEY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406640" y="320040"/>
            <a:ext cx="1645920" cy="237744"/>
          </a:xfrm>
          <a:prstGeom prst="roundRect">
            <a:avLst>
              <a:gd name="adj" fmla="val 30769"/>
            </a:avLst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7406640" y="320040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SLIDE 04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CFBF1"/>
                </a:solidFill>
              </a:rPr>
              <a:t>8 screens · Fully clickable · Both trust gates enforced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325880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325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Splash + OTP Login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2148840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B4C8"/>
                </a:solidFill>
              </a:rPr>
              <a:t>Phone entry → 6-digit OTP → profile setup. Verified phone = identity anchor.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487168" y="123444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578608" y="1325880"/>
            <a:ext cx="347472" cy="347472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3" name="Text 11"/>
          <p:cNvSpPr/>
          <p:nvPr/>
        </p:nvSpPr>
        <p:spPr>
          <a:xfrm>
            <a:off x="2578608" y="1325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78608" y="178308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Home + Discovery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578608" y="2148840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B4C8"/>
                </a:solidFill>
              </a:rPr>
              <a:t>Category grid, search bar, top-rated pros near you. Verified-first defaults.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08576" y="123444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700016" y="1325880"/>
            <a:ext cx="347472" cy="3474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4700016" y="1325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00016" y="178308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Search + Filter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700016" y="2148840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B4C8"/>
                </a:solidFill>
              </a:rPr>
              <a:t>KYC toggle, sort filters, live results. Empty state handles zero supply gracefully.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729984" y="123444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821424" y="1325880"/>
            <a:ext cx="347472" cy="34747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3" name="Text 21"/>
          <p:cNvSpPr/>
          <p:nvPr/>
        </p:nvSpPr>
        <p:spPr>
          <a:xfrm>
            <a:off x="6821424" y="1325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21424" y="178308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Pro Profile (3 tabs)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821424" y="2148840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B4C8"/>
                </a:solidFill>
              </a:rPr>
              <a:t>Overview / Reviews / Pricing. Review count, avg rating, transparent pricing shown.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65760" y="2953512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57200" y="3044952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3044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350215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3-Step Booking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57200" y="3867912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B4C8"/>
                </a:solidFill>
              </a:rPr>
              <a:t>Date/time → address &amp; service type → full price breakdown + guarantee badge.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487168" y="2953512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578608" y="3044952"/>
            <a:ext cx="347472" cy="347472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3" name="Text 31"/>
          <p:cNvSpPr/>
          <p:nvPr/>
        </p:nvSpPr>
        <p:spPr>
          <a:xfrm>
            <a:off x="2578608" y="3044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578608" y="350215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Confirmed + Tracking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578608" y="3867912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B4C8"/>
                </a:solidFill>
              </a:rPr>
              <a:t>Booking summary → live map tracking → progress bar. Simulate-complete button.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608576" y="2953512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700016" y="3044952"/>
            <a:ext cx="347472" cy="3474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8" name="Text 36"/>
          <p:cNvSpPr/>
          <p:nvPr/>
        </p:nvSpPr>
        <p:spPr>
          <a:xfrm>
            <a:off x="4700016" y="3044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07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700016" y="350215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Rating &amp; Review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700016" y="3867912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B4C8"/>
                </a:solidFill>
              </a:rPr>
              <a:t>Star select + quick tags + optional text. 7-day guarantee activates on submit.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7315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 WALKTHROUGH — PROFESSIONAL SIDE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406640" y="310896"/>
            <a:ext cx="1645920" cy="237744"/>
          </a:xfrm>
          <a:prstGeom prst="roundRect">
            <a:avLst>
              <a:gd name="adj" fmla="val 30769"/>
            </a:avLst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7406640" y="310896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SLIDE 05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</a:rPr>
              <a:t>3 core screens · Accept/decline bookings · Earnings management · Availability gating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0D9488">
              <a:alpha val="8000"/>
            </a:srgbClr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371600"/>
            <a:ext cx="2651760" cy="457200"/>
          </a:xfrm>
          <a:prstGeom prst="roundRect">
            <a:avLst>
              <a:gd name="adj" fmla="val 24000"/>
            </a:avLst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3716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Pro Dashboard — Home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1938528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→  Online/Offline toggle now actively gates booking requests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57200" y="2395728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→  Stats: weekly earnings, jobs done, rating at a glance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57200" y="2852928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→  Incoming booking request with 5-min countdown timer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57200" y="3310128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→  One-tap Accept or Decline with instant confirmation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57200" y="3767328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→  Upcoming jobs queue below the request card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4279392"/>
            <a:ext cx="2468880" cy="548640"/>
          </a:xfrm>
          <a:prstGeom prst="roundRect">
            <a:avLst>
              <a:gd name="adj" fmla="val 13333"/>
            </a:avLst>
          </a:prstGeom>
          <a:solidFill>
            <a:srgbClr val="0D9488">
              <a:alpha val="18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4297680"/>
            <a:ext cx="2377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34155"/>
                </a:solidFill>
              </a:rPr>
              <a:t>💡 Pros need earnings context alongside requests — 'Is this worth my time?' is the real decision.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246120" y="1371600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0F2044">
              <a:alpha val="8000"/>
            </a:srgbClr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46120" y="1371600"/>
            <a:ext cx="2651760" cy="457200"/>
          </a:xfrm>
          <a:prstGeom prst="roundRect">
            <a:avLst>
              <a:gd name="adj" fmla="val 24000"/>
            </a:avLst>
          </a:prstGeom>
          <a:solidFill>
            <a:srgbClr val="0F2044"/>
          </a:solidFill>
          <a:ln/>
        </p:spPr>
      </p:sp>
      <p:sp>
        <p:nvSpPr>
          <p:cNvPr id="19" name="Text 17"/>
          <p:cNvSpPr/>
          <p:nvPr/>
        </p:nvSpPr>
        <p:spPr>
          <a:xfrm>
            <a:off x="3337560" y="13716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Pro Jobs List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337560" y="1938528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→  Tabs: Upcoming / Completed / Cancelled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337560" y="2395728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→  Each job shows customer, time, confirmed price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337560" y="2852928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→  Navigate CTA on active jobs for GPS directions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337560" y="3310128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→  Completed jobs show customer rating inline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337560" y="3767328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→  Earnings shown per job, not just total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337560" y="4279392"/>
            <a:ext cx="2468880" cy="548640"/>
          </a:xfrm>
          <a:prstGeom prst="roundRect">
            <a:avLst>
              <a:gd name="adj" fmla="val 13333"/>
            </a:avLst>
          </a:prstGeom>
          <a:solidFill>
            <a:srgbClr val="0F2044">
              <a:alpha val="18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3383280" y="4297680"/>
            <a:ext cx="2377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34155"/>
                </a:solidFill>
              </a:rPr>
              <a:t>💡 Showing per-job earnings matters — pros compare across jobs when deciding priorities.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6126480" y="1371600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F97316">
              <a:alpha val="8000"/>
            </a:srgbClr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26480" y="1371600"/>
            <a:ext cx="2651760" cy="457200"/>
          </a:xfrm>
          <a:prstGeom prst="roundRect">
            <a:avLst>
              <a:gd name="adj" fmla="val 24000"/>
            </a:avLst>
          </a:prstGeom>
          <a:solidFill>
            <a:srgbClr val="F97316"/>
          </a:solidFill>
          <a:ln/>
        </p:spPr>
      </p:sp>
      <p:sp>
        <p:nvSpPr>
          <p:cNvPr id="29" name="Text 27"/>
          <p:cNvSpPr/>
          <p:nvPr/>
        </p:nvSpPr>
        <p:spPr>
          <a:xfrm>
            <a:off x="6217920" y="13716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Earnings Dashboard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217920" y="1938528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→  Monthly total with month-on-month % change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217920" y="2395728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→  Jobs count + average earnings per job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217920" y="2852928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→  Available vs. pending clearance split clearly shown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217920" y="3310128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→  One-tap withdraw to linked bank/UPI account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217920" y="3767328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→  Withdraw only unlocks after clearance period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217920" y="4279392"/>
            <a:ext cx="2468880" cy="548640"/>
          </a:xfrm>
          <a:prstGeom prst="roundRect">
            <a:avLst>
              <a:gd name="adj" fmla="val 13333"/>
            </a:avLst>
          </a:prstGeom>
          <a:solidFill>
            <a:srgbClr val="F97316">
              <a:alpha val="18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6263640" y="4297680"/>
            <a:ext cx="2377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34155"/>
                </a:solidFill>
              </a:rPr>
              <a:t>💡 Pending vs. available split is critical — pros need to know when money clears, not just total.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PROTOTYPING APPROACH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406640" y="320040"/>
            <a:ext cx="1645920" cy="237744"/>
          </a:xfrm>
          <a:prstGeom prst="roundRect">
            <a:avLst>
              <a:gd name="adj" fmla="val 30769"/>
            </a:avLst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7406640" y="320040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SLIDE 06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160520" cy="1719072"/>
          </a:xfrm>
          <a:prstGeom prst="roundRect">
            <a:avLst>
              <a:gd name="adj" fmla="val 6383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216152"/>
            <a:ext cx="457200" cy="457200"/>
          </a:xfrm>
          <a:prstGeom prst="ellipse">
            <a:avLst/>
          </a:prstGeom>
          <a:solidFill>
            <a:srgbClr val="0D9488">
              <a:alpha val="80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" y="1252728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2344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Claude (Vibe Coding — Primary)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02920" y="1655064"/>
            <a:ext cx="38587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B4C8"/>
                </a:solidFill>
              </a:rPr>
              <a:t>Entire prototype written in a single AI session. Described each screen in natural language, iterated on behavior through conversation, tested immediately in browser.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02920" y="2441448"/>
            <a:ext cx="3858768" cy="219456"/>
          </a:xfrm>
          <a:prstGeom prst="roundRect">
            <a:avLst>
              <a:gd name="adj" fmla="val 25000"/>
            </a:avLst>
          </a:prstGeom>
          <a:solidFill>
            <a:srgbClr val="0D9488">
              <a:alpha val="25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245059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→  Prompt → prototype → test → identify gap → refine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4800600" y="1051560"/>
            <a:ext cx="4160520" cy="1719072"/>
          </a:xfrm>
          <a:prstGeom prst="roundRect">
            <a:avLst>
              <a:gd name="adj" fmla="val 6383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4937760" y="1216152"/>
            <a:ext cx="457200" cy="457200"/>
          </a:xfrm>
          <a:prstGeom prst="ellipse">
            <a:avLst/>
          </a:prstGeom>
          <a:solidFill>
            <a:srgbClr val="F59E0B">
              <a:alpha val="80000"/>
            </a:srgbClr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4336" y="1252728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532120" y="12344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Vanilla JS + CSS Variables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937760" y="1655064"/>
            <a:ext cx="38587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B4C8"/>
                </a:solidFill>
              </a:rPr>
              <a:t>Custom phone frame with scroll container, sticky appbars, and nav bars. No external component library — pure CSS. Runs on any browser, zero dependencies.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4937760" y="2441448"/>
            <a:ext cx="3858768" cy="219456"/>
          </a:xfrm>
          <a:prstGeom prst="roundRect">
            <a:avLst>
              <a:gd name="adj" fmla="val 25000"/>
            </a:avLst>
          </a:prstGeom>
          <a:solidFill>
            <a:srgbClr val="F59E0B">
              <a:alpha val="25000"/>
            </a:srgbClr>
          </a:solidFill>
          <a:ln/>
        </p:spPr>
      </p:sp>
      <p:sp>
        <p:nvSpPr>
          <p:cNvPr id="18" name="Text 14"/>
          <p:cNvSpPr/>
          <p:nvPr/>
        </p:nvSpPr>
        <p:spPr>
          <a:xfrm>
            <a:off x="4983480" y="245059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→  Self-contained. Exportable to React with minimal refactor.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365760" y="2990088"/>
            <a:ext cx="4160520" cy="1719072"/>
          </a:xfrm>
          <a:prstGeom prst="roundRect">
            <a:avLst>
              <a:gd name="adj" fmla="val 6383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20" name="Shape 16"/>
          <p:cNvSpPr/>
          <p:nvPr/>
        </p:nvSpPr>
        <p:spPr>
          <a:xfrm>
            <a:off x="502920" y="3154680"/>
            <a:ext cx="457200" cy="457200"/>
          </a:xfrm>
          <a:prstGeom prst="ellipse">
            <a:avLst/>
          </a:prstGeom>
          <a:solidFill>
            <a:srgbClr val="F97316">
              <a:alpha val="80000"/>
            </a:srgbClr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" y="3191256"/>
            <a:ext cx="292608" cy="29260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097280" y="31729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Single-state render engine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502920" y="3593592"/>
            <a:ext cx="38587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B4C8"/>
                </a:solidFill>
              </a:rPr>
              <a:t>All 12 screens managed with one state object and a render() function. Every interaction updates state → triggers full re-render. Simple, debuggable, fast.</a:t>
            </a:r>
            <a:endParaRPr lang="en-US" sz="850" dirty="0"/>
          </a:p>
        </p:txBody>
      </p:sp>
      <p:sp>
        <p:nvSpPr>
          <p:cNvPr id="24" name="Shape 19"/>
          <p:cNvSpPr/>
          <p:nvPr/>
        </p:nvSpPr>
        <p:spPr>
          <a:xfrm>
            <a:off x="502920" y="4379976"/>
            <a:ext cx="3858768" cy="219456"/>
          </a:xfrm>
          <a:prstGeom prst="roundRect">
            <a:avLst>
              <a:gd name="adj" fmla="val 25000"/>
            </a:avLst>
          </a:prstGeom>
          <a:solidFill>
            <a:srgbClr val="F97316">
              <a:alpha val="25000"/>
            </a:srgbClr>
          </a:solidFill>
          <a:ln/>
        </p:spPr>
      </p:sp>
      <p:sp>
        <p:nvSpPr>
          <p:cNvPr id="25" name="Text 20"/>
          <p:cNvSpPr/>
          <p:nvPr/>
        </p:nvSpPr>
        <p:spPr>
          <a:xfrm>
            <a:off x="548640" y="438912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→  One source of truth — easy to add new screens or states.</a:t>
            </a:r>
            <a:endParaRPr lang="en-US" sz="800" dirty="0"/>
          </a:p>
        </p:txBody>
      </p:sp>
      <p:sp>
        <p:nvSpPr>
          <p:cNvPr id="26" name="Shape 21"/>
          <p:cNvSpPr/>
          <p:nvPr/>
        </p:nvSpPr>
        <p:spPr>
          <a:xfrm>
            <a:off x="4800600" y="2990088"/>
            <a:ext cx="4160520" cy="1719072"/>
          </a:xfrm>
          <a:prstGeom prst="roundRect">
            <a:avLst>
              <a:gd name="adj" fmla="val 6383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27" name="Shape 22"/>
          <p:cNvSpPr/>
          <p:nvPr/>
        </p:nvSpPr>
        <p:spPr>
          <a:xfrm>
            <a:off x="4937760" y="3154680"/>
            <a:ext cx="457200" cy="457200"/>
          </a:xfrm>
          <a:prstGeom prst="ellipse">
            <a:avLst/>
          </a:prstGeom>
          <a:solidFill>
            <a:srgbClr val="14B8A6">
              <a:alpha val="80000"/>
            </a:srgbClr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4336" y="3191256"/>
            <a:ext cx="292608" cy="29260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532120" y="31729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React JSX version (secondary)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4937760" y="3593592"/>
            <a:ext cx="38587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B4C8"/>
                </a:solidFill>
              </a:rPr>
              <a:t>Also built a full React JSX version with useState hooks per component. Identical UX to the vanilla JS version — validates approach works in either paradigm.</a:t>
            </a:r>
            <a:endParaRPr lang="en-US" sz="850" dirty="0"/>
          </a:p>
        </p:txBody>
      </p:sp>
      <p:sp>
        <p:nvSpPr>
          <p:cNvPr id="31" name="Shape 25"/>
          <p:cNvSpPr/>
          <p:nvPr/>
        </p:nvSpPr>
        <p:spPr>
          <a:xfrm>
            <a:off x="4937760" y="4379976"/>
            <a:ext cx="3858768" cy="219456"/>
          </a:xfrm>
          <a:prstGeom prst="roundRect">
            <a:avLst>
              <a:gd name="adj" fmla="val 25000"/>
            </a:avLst>
          </a:prstGeom>
          <a:solidFill>
            <a:srgbClr val="14B8A6">
              <a:alpha val="25000"/>
            </a:srgbClr>
          </a:solidFill>
          <a:ln/>
        </p:spPr>
      </p:sp>
      <p:sp>
        <p:nvSpPr>
          <p:cNvPr id="32" name="Text 26"/>
          <p:cNvSpPr/>
          <p:nvPr/>
        </p:nvSpPr>
        <p:spPr>
          <a:xfrm>
            <a:off x="4983480" y="438912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→  JSX file exported as .jsx for developer handoff ready.</a:t>
            </a:r>
            <a:endParaRPr lang="en-US" sz="800" dirty="0"/>
          </a:p>
        </p:txBody>
      </p:sp>
      <p:sp>
        <p:nvSpPr>
          <p:cNvPr id="33" name="Shape 27"/>
          <p:cNvSpPr/>
          <p:nvPr/>
        </p:nvSpPr>
        <p:spPr>
          <a:xfrm>
            <a:off x="365760" y="4846320"/>
            <a:ext cx="8412480" cy="201168"/>
          </a:xfrm>
          <a:prstGeom prst="roundRect">
            <a:avLst>
              <a:gd name="adj" fmla="val 27273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34" name="Text 28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CFBF1"/>
                </a:solidFill>
              </a:rPr>
              <a:t>Total build time: ~6 hours  |  ~700 lines of code  |  No npm packages  |  Works on any browser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7315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THINKING EVOLUTION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406640" y="310896"/>
            <a:ext cx="1645920" cy="237744"/>
          </a:xfrm>
          <a:prstGeom prst="roundRect">
            <a:avLst>
              <a:gd name="adj" fmla="val 30769"/>
            </a:avLst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7406640" y="310896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SLIDE 07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</a:rPr>
              <a:t>Gaps and contradictions the act of building forced us to resolve.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325880"/>
            <a:ext cx="1828800" cy="274320"/>
          </a:xfrm>
          <a:prstGeom prst="roundRect">
            <a:avLst>
              <a:gd name="adj" fmla="val 20000"/>
            </a:avLst>
          </a:prstGeom>
          <a:solidFill>
            <a:srgbClr val="0F2044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325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Gap Discovered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0" y="1325880"/>
            <a:ext cx="2606040" cy="274320"/>
          </a:xfrm>
          <a:prstGeom prst="roundRect">
            <a:avLst>
              <a:gd name="adj" fmla="val 20000"/>
            </a:avLst>
          </a:prstGeom>
          <a:solidFill>
            <a:srgbClr val="0F2044"/>
          </a:solidFill>
          <a:ln/>
        </p:spPr>
      </p:sp>
      <p:sp>
        <p:nvSpPr>
          <p:cNvPr id="10" name="Text 8"/>
          <p:cNvSpPr/>
          <p:nvPr/>
        </p:nvSpPr>
        <p:spPr>
          <a:xfrm>
            <a:off x="2286000" y="132588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Week 2 Assumption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0" y="1325880"/>
            <a:ext cx="3794760" cy="274320"/>
          </a:xfrm>
          <a:prstGeom prst="roundRect">
            <a:avLst>
              <a:gd name="adj" fmla="val 20000"/>
            </a:avLst>
          </a:prstGeom>
          <a:solidFill>
            <a:srgbClr val="0F2044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32588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Resolution + Impact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1719072"/>
            <a:ext cx="8412480" cy="548640"/>
          </a:xfrm>
          <a:prstGeom prst="roundRect">
            <a:avLst>
              <a:gd name="adj" fmla="val 13333"/>
            </a:avLst>
          </a:prstGeom>
          <a:solidFill>
            <a:srgbClr val="EF4444">
              <a:alpha val="1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231136" y="1764792"/>
            <a:ext cx="0" cy="45720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74336" y="1764792"/>
            <a:ext cx="0" cy="45720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" y="1783080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Verified filter + no supply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340864" y="1783080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34155"/>
                </a:solidFill>
              </a:rPr>
              <a:t>Assumed supply exists at launch.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084064" y="1783080"/>
            <a:ext cx="3703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Added toggle + empty-state copy. Default to all pros in beta until supply is seeded.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2350008"/>
            <a:ext cx="8412480" cy="548640"/>
          </a:xfrm>
          <a:prstGeom prst="roundRect">
            <a:avLst>
              <a:gd name="adj" fmla="val 13333"/>
            </a:avLst>
          </a:prstGeom>
          <a:solidFill>
            <a:srgbClr val="F97316">
              <a:alpha val="1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231136" y="2395728"/>
            <a:ext cx="0" cy="45720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74336" y="2395728"/>
            <a:ext cx="0" cy="45720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0624" y="2414016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</a:rPr>
              <a:t>Review unlock timing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340864" y="2414016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34155"/>
                </a:solidFill>
              </a:rPr>
              <a:t>Reviews were always visible in wireframe.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084064" y="2414016"/>
            <a:ext cx="3703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Reviews only unlock after both confirm job done. Prevents fake/pre-emptive reviews.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2980944"/>
            <a:ext cx="8412480" cy="548640"/>
          </a:xfrm>
          <a:prstGeom prst="roundRect">
            <a:avLst>
              <a:gd name="adj" fmla="val 13333"/>
            </a:avLst>
          </a:prstGeom>
          <a:solidFill>
            <a:srgbClr val="0D9488">
              <a:alpha val="1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231136" y="3026664"/>
            <a:ext cx="0" cy="45720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74336" y="3026664"/>
            <a:ext cx="0" cy="45720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0624" y="3044952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Pro availability ≠ cosmetic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340864" y="3044952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34155"/>
                </a:solidFill>
              </a:rPr>
              <a:t>Toggle was a UI nicety, not a logic gate.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084064" y="3044952"/>
            <a:ext cx="3703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Toggle now gates incoming requests. Offline pros get zero new bookings.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65760" y="3611880"/>
            <a:ext cx="8412480" cy="548640"/>
          </a:xfrm>
          <a:prstGeom prst="roundRect">
            <a:avLst>
              <a:gd name="adj" fmla="val 13333"/>
            </a:avLst>
          </a:prstGeom>
          <a:solidFill>
            <a:srgbClr val="0F2044">
              <a:alpha val="1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231136" y="3657600"/>
            <a:ext cx="0" cy="45720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974336" y="3657600"/>
            <a:ext cx="0" cy="45720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0624" y="3675888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044"/>
                </a:solidFill>
              </a:rPr>
              <a:t>Dual job-done confirmation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340864" y="3675888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34155"/>
                </a:solidFill>
              </a:rPr>
              <a:t>Pro marks done → payment releases.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084064" y="3675888"/>
            <a:ext cx="3703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Customer must also confirm. This is the escrow gate — prevents premature completion.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65760" y="4242816"/>
            <a:ext cx="8412480" cy="548640"/>
          </a:xfrm>
          <a:prstGeom prst="roundRect">
            <a:avLst>
              <a:gd name="adj" fmla="val 13333"/>
            </a:avLst>
          </a:prstGeom>
          <a:solidFill>
            <a:srgbClr val="F59E0B">
              <a:alpha val="1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231136" y="4288536"/>
            <a:ext cx="0" cy="45720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974336" y="4288536"/>
            <a:ext cx="0" cy="45720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0624" y="4306824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Cash payment (supply risk)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340864" y="4306824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34155"/>
                </a:solidFill>
              </a:rPr>
              <a:t>UPI/Card felt sufficient for modern India.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084064" y="4306824"/>
            <a:ext cx="3703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Cash retained. Removing it kills Tier-2 supply-side adoption.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7315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REVISED MVP — WHAT CHANGED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406640" y="310896"/>
            <a:ext cx="1645920" cy="237744"/>
          </a:xfrm>
          <a:prstGeom prst="roundRect">
            <a:avLst>
              <a:gd name="adj" fmla="val 30769"/>
            </a:avLst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7406640" y="310896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SLIDE 08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Prototyping validated Week 2 priorities. Three items promoted to Must Have based on what building revealed.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353312"/>
            <a:ext cx="416052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353312"/>
            <a:ext cx="4160520" cy="320040"/>
          </a:xfrm>
          <a:prstGeom prst="roundRect">
            <a:avLst>
              <a:gd name="adj" fmla="val 28571"/>
            </a:avLst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353312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UNCHANGED — MUST HAVE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764792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●  Pro onboarding &amp; KYC (Aadhaar/PAN)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2112264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●  Service category search + discovery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2459736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●  Booking flow (3-step) + confirmation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2807208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●  Ratings &amp; reviews (post-service only)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3154680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●  In-app payment: UPI, Card, Cash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3502152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●  Digital receipt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800600" y="1353312"/>
            <a:ext cx="416052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0" y="1353312"/>
            <a:ext cx="4160520" cy="320040"/>
          </a:xfrm>
          <a:prstGeom prst="roundRect">
            <a:avLst>
              <a:gd name="adj" fmla="val 28571"/>
            </a:avLst>
          </a:prstGeom>
          <a:solidFill>
            <a:srgbClr val="F97316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1353312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PROMOTED → NOW MUST HAVE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92040" y="1764792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●  Availability toggle (active gating, not cosmetic)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92040" y="2112264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●  Empty-state for zero verified-pro searches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92040" y="2459736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●  Dual job-done confirmation by both parties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3108960"/>
            <a:ext cx="416052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108960"/>
            <a:ext cx="4160520" cy="320040"/>
          </a:xfrm>
          <a:prstGeom prst="roundRect">
            <a:avLst>
              <a:gd name="adj" fmla="val 28571"/>
            </a:avLst>
          </a:prstGeom>
          <a:solidFill>
            <a:srgbClr val="0F2044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10896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SHOULD HAVE (unchanged)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3520440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●  Real-time GPS tracking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57200" y="3867912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●  Cancellation &amp; rescheduling flow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57200" y="4215384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●  Pro earnings dashboard v1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7200" y="4562856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●  Admin panel for disputes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00600" y="3108960"/>
            <a:ext cx="416052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3108960"/>
            <a:ext cx="4160520" cy="320040"/>
          </a:xfrm>
          <a:prstGeom prst="roundRect">
            <a:avLst>
              <a:gd name="adj" fmla="val 28571"/>
            </a:avLst>
          </a:prstGeom>
          <a:solidFill>
            <a:srgbClr val="64748B"/>
          </a:solidFill>
          <a:ln/>
        </p:spPr>
      </p:sp>
      <p:sp>
        <p:nvSpPr>
          <p:cNvPr id="31" name="Text 29"/>
          <p:cNvSpPr/>
          <p:nvPr/>
        </p:nvSpPr>
        <p:spPr>
          <a:xfrm>
            <a:off x="4892040" y="310896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WON'T HAVE (v1) — unchanged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92040" y="3520440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●  AR room scanning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92040" y="3867912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●  AI dynamic pricing engine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892040" y="4215384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●  Referral program (post-MVP growth)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7315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UPDATED METRICS &amp; RISKS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406640" y="310896"/>
            <a:ext cx="1645920" cy="237744"/>
          </a:xfrm>
          <a:prstGeom prst="roundRect">
            <a:avLst>
              <a:gd name="adj" fmla="val 30769"/>
            </a:avLst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7406640" y="310896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SLIDE 09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411480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05840"/>
            <a:ext cx="4114800" cy="347472"/>
          </a:xfrm>
          <a:prstGeom prst="roundRect">
            <a:avLst>
              <a:gd name="adj" fmla="val 26316"/>
            </a:avLst>
          </a:prstGeom>
          <a:solidFill>
            <a:srgbClr val="0F204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📊  SUCCESS METRICS (Refined)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48132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North Star: Successful Bookings per Week (unchanged)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75564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Target: 500 SBW by end of Month 3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2057400"/>
            <a:ext cx="37490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12140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97316"/>
                </a:solidFill>
              </a:rPr>
              <a:t>NEW PROTOTYPE-INFORMED METRICS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" y="2487168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4231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4155"/>
                </a:solidFill>
              </a:rPr>
              <a:t>Empty-state conversion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85800" y="266090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% of zero-supply sessions that toggle and book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" y="2962656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289864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4155"/>
                </a:solidFill>
              </a:rPr>
              <a:t>Dual-confirm rate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85800" y="313639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% of jobs customer-confirmed within 2hrs of pro marking done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438144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374136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4155"/>
                </a:solidFill>
              </a:rPr>
              <a:t>Pro availability uptime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85800" y="361188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Avg hours/day pros stay online (target ≥6hrs = active)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7200" y="3913632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3849624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4155"/>
                </a:solidFill>
              </a:rPr>
              <a:t>Booking-to-track rate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85800" y="408736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% of confirmed bookings where customer opens tracking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7200" y="4389120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432511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4155"/>
                </a:solidFill>
              </a:rPr>
              <a:t>Review submission rate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85800" y="456285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% of completed jobs rated by customer (target ≥60%)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663440" y="1005840"/>
            <a:ext cx="411480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1005840"/>
            <a:ext cx="4114800" cy="347472"/>
          </a:xfrm>
          <a:prstGeom prst="roundRect">
            <a:avLst>
              <a:gd name="adj" fmla="val 26316"/>
            </a:avLst>
          </a:prstGeom>
          <a:solidFill>
            <a:srgbClr val="F97316"/>
          </a:solidFill>
          <a:ln/>
        </p:spPr>
      </p:sp>
      <p:sp>
        <p:nvSpPr>
          <p:cNvPr id="30" name="Text 28"/>
          <p:cNvSpPr/>
          <p:nvPr/>
        </p:nvSpPr>
        <p:spPr>
          <a:xfrm>
            <a:off x="4754880" y="10058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⚠️  RISKS (Prototype-Informed Additions)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09160" y="1481328"/>
            <a:ext cx="3977640" cy="685800"/>
          </a:xfrm>
          <a:prstGeom prst="roundRect">
            <a:avLst>
              <a:gd name="adj" fmla="val 10667"/>
            </a:avLst>
          </a:prstGeom>
          <a:solidFill>
            <a:srgbClr val="F97316">
              <a:alpha val="1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4800600" y="1517904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97316"/>
                </a:solidFill>
              </a:rPr>
              <a:t>Dual-confirm friction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00600" y="1755648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34155"/>
                </a:solidFill>
              </a:rPr>
              <a:t>Risk: Customers who don't confirm delay pro payment.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800600" y="1938528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✓ Auto-confirm after 4hrs if no dispute raised.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709160" y="2286000"/>
            <a:ext cx="3977640" cy="685800"/>
          </a:xfrm>
          <a:prstGeom prst="roundRect">
            <a:avLst>
              <a:gd name="adj" fmla="val 10667"/>
            </a:avLst>
          </a:prstGeom>
          <a:solidFill>
            <a:srgbClr val="F97316">
              <a:alpha val="1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4800600" y="2322576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97316"/>
                </a:solidFill>
              </a:rPr>
              <a:t>Cash tracking gap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800600" y="256032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34155"/>
                </a:solidFill>
              </a:rPr>
              <a:t>Risk: Cash jobs bypass platform — no audit trail.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800600" y="274320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✓ Digital receipt mandatory. Photo of work required.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709160" y="3090672"/>
            <a:ext cx="3977640" cy="685800"/>
          </a:xfrm>
          <a:prstGeom prst="roundRect">
            <a:avLst>
              <a:gd name="adj" fmla="val 10667"/>
            </a:avLst>
          </a:prstGeom>
          <a:solidFill>
            <a:srgbClr val="F97316">
              <a:alpha val="1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4800600" y="312724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97316"/>
                </a:solidFill>
              </a:rPr>
              <a:t>Toggle abuse (cherry-picking)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800600" y="3364992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34155"/>
                </a:solidFill>
              </a:rPr>
              <a:t>Risk: Pros go offline to avoid low-paying jobs.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800600" y="3547872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✓ Low acceptance rate → visibility penalty.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709160" y="3895344"/>
            <a:ext cx="3977640" cy="685800"/>
          </a:xfrm>
          <a:prstGeom prst="roundRect">
            <a:avLst>
              <a:gd name="adj" fmla="val 10667"/>
            </a:avLst>
          </a:prstGeom>
          <a:solidFill>
            <a:srgbClr val="F97316">
              <a:alpha val="1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4800600" y="39319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97316"/>
                </a:solidFill>
              </a:rPr>
              <a:t>Empty state churn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800600" y="4169664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34155"/>
                </a:solidFill>
              </a:rPr>
              <a:t>Risk: Users see 'no pros' and leave before seeing toggle.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800600" y="4352544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✓ Default to all pros in beta. KYC filter = preference.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457200"/>
            <a:ext cx="1463040" cy="146304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645920"/>
            <a:ext cx="1280160" cy="1280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50292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TrustFix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274320" y="1170432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CFBF1"/>
                </a:solidFill>
              </a:rPr>
              <a:t>Week 3: Prototype validated.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CCFBF1"/>
                </a:solidFill>
              </a:rPr>
              <a:t>Week 4: What's next.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114800" y="804672"/>
            <a:ext cx="4663440" cy="868680"/>
          </a:xfrm>
          <a:prstGeom prst="roundRect">
            <a:avLst>
              <a:gd name="adj" fmla="val 10526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4206240" y="877824"/>
            <a:ext cx="365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🔗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663440" y="9144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Prototype built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663440" y="120700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B4C8"/>
                </a:solidFill>
              </a:rPr>
              <a:t>AI-assisted vibe coding. Both customer and pro journeys clickable.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114800" y="1810512"/>
            <a:ext cx="4663440" cy="868680"/>
          </a:xfrm>
          <a:prstGeom prst="roundRect">
            <a:avLst>
              <a:gd name="adj" fmla="val 10526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4206240" y="1883664"/>
            <a:ext cx="365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663440" y="19202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 gaps resolved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663440" y="221284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B4C8"/>
                </a:solidFill>
              </a:rPr>
              <a:t>Empty state, dual-confirm, toggle gating, cash payment, review timing.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114800" y="2816352"/>
            <a:ext cx="4663440" cy="868680"/>
          </a:xfrm>
          <a:prstGeom prst="roundRect">
            <a:avLst>
              <a:gd name="adj" fmla="val 10526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4206240" y="2889504"/>
            <a:ext cx="365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4663440" y="29260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MVP sharpened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663440" y="321868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B4C8"/>
                </a:solidFill>
              </a:rPr>
              <a:t>3 features promoted from Should Have → Must Have.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114800" y="3822192"/>
            <a:ext cx="4663440" cy="868680"/>
          </a:xfrm>
          <a:prstGeom prst="roundRect">
            <a:avLst>
              <a:gd name="adj" fmla="val 10526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4206240" y="3895344"/>
            <a:ext cx="365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4663440" y="39319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 new metrics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663440" y="422452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B4C8"/>
                </a:solidFill>
              </a:rPr>
              <a:t>Confirmation rates, toggle uptime, empty-state conversion now tracked.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114800" y="4773168"/>
            <a:ext cx="4663440" cy="237744"/>
          </a:xfrm>
          <a:prstGeom prst="roundRect">
            <a:avLst>
              <a:gd name="adj" fmla="val 26923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4114800" y="4773168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CFBF1"/>
                </a:solidFill>
              </a:rPr>
              <a:t>"A wireframe is a promise. A prototype is proof."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TrustFix Week 3</dc:title>
  <dc:subject>PptxGenJS Presentation</dc:subject>
  <dc:creator>PptxGenJS</dc:creator>
  <cp:lastModifiedBy>PptxGenJS</cp:lastModifiedBy>
  <cp:revision>1</cp:revision>
  <dcterms:created xsi:type="dcterms:W3CDTF">2026-07-04T16:20:22Z</dcterms:created>
  <dcterms:modified xsi:type="dcterms:W3CDTF">2026-07-04T16:20:22Z</dcterms:modified>
</cp:coreProperties>
</file>