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365760"/>
            <a:ext cx="2011680" cy="2011680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132588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749808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14B8A6"/>
                </a:solidFill>
              </a:rPr>
              <a:t>E-CELL IIT GUWAHATI  ·  PM COURSE  ·  WEEK 3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548640" y="1078992"/>
            <a:ext cx="5029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TrustFix</a:t>
            </a:r>
            <a:endParaRPr lang="en-US" sz="5600" dirty="0"/>
          </a:p>
        </p:txBody>
      </p:sp>
      <p:sp>
        <p:nvSpPr>
          <p:cNvPr id="7" name="Text 4"/>
          <p:cNvSpPr/>
          <p:nvPr/>
        </p:nvSpPr>
        <p:spPr>
          <a:xfrm>
            <a:off x="548640" y="2121408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CFB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built it. Here's what we got wrong.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2697480"/>
            <a:ext cx="292608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288036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B4C8"/>
                </a:solidFill>
              </a:rPr>
              <a:t>Last week we drew screens. This week we made them clickable —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0B4C8"/>
                </a:solidFill>
              </a:rPr>
              <a:t>and discovered 5 things we'd quietly assumed were solved.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440740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Week 3 Submission  ·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7315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WERE WRONG ABOUT 5 THINGS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06640" y="310896"/>
            <a:ext cx="1645920" cy="237744"/>
          </a:xfrm>
          <a:prstGeom prst="roundRect">
            <a:avLst>
              <a:gd name="adj" fmla="val 30769"/>
            </a:avLst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7406640" y="310896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SLIDE 02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</a:rPr>
              <a:t>A wireframe lets you avoid hard decisions. Building forces them.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389888"/>
            <a:ext cx="8412480" cy="621792"/>
          </a:xfrm>
          <a:prstGeom prst="roundRect">
            <a:avLst>
              <a:gd name="adj" fmla="val 13235"/>
            </a:avLst>
          </a:prstGeom>
          <a:solidFill>
            <a:srgbClr val="EF4444">
              <a:alpha val="9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563624"/>
            <a:ext cx="256032" cy="256032"/>
          </a:xfrm>
          <a:prstGeom prst="ellipse">
            <a:avLst/>
          </a:prstGeom>
          <a:solidFill>
            <a:srgbClr val="EF4444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1563624"/>
            <a:ext cx="182880" cy="1828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" y="1453896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The verified filter breaks at launch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108960" y="1444752"/>
            <a:ext cx="2606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34155"/>
                </a:solidFill>
              </a:rPr>
              <a:t>Reality: We assumed supply would exist when customers arrived. It won't.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806440" y="1481328"/>
            <a:ext cx="0" cy="438912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97880" y="1444752"/>
            <a:ext cx="2788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Fix: Added empty-state copy + a toggle. In beta, default to all pros — not verified-only.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65760" y="2112264"/>
            <a:ext cx="8412480" cy="621792"/>
          </a:xfrm>
          <a:prstGeom prst="roundRect">
            <a:avLst>
              <a:gd name="adj" fmla="val 13235"/>
            </a:avLst>
          </a:prstGeom>
          <a:solidFill>
            <a:srgbClr val="F97316">
              <a:alpha val="9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457200" y="2286000"/>
            <a:ext cx="256032" cy="256032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" y="2286000"/>
            <a:ext cx="182880" cy="1828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822960" y="2176272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</a:rPr>
              <a:t>Booking requests silently expired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3108960" y="2167128"/>
            <a:ext cx="2606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34155"/>
                </a:solidFill>
              </a:rPr>
              <a:t>Reality: The 5-minute countdown was in the wireframe but had no feedback state.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5806440" y="2203704"/>
            <a:ext cx="0" cy="438912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897880" y="2167128"/>
            <a:ext cx="2788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Fix: Countdown now visible on pro dashboard. Customer sees a 'finding your pro' state.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365760" y="2834640"/>
            <a:ext cx="8412480" cy="621792"/>
          </a:xfrm>
          <a:prstGeom prst="roundRect">
            <a:avLst>
              <a:gd name="adj" fmla="val 13235"/>
            </a:avLst>
          </a:prstGeom>
          <a:solidFill>
            <a:srgbClr val="10B981">
              <a:alpha val="9000"/>
            </a:srgbClr>
          </a:solidFill>
          <a:ln/>
        </p:spPr>
      </p:sp>
      <p:sp>
        <p:nvSpPr>
          <p:cNvPr id="22" name="Shape 18"/>
          <p:cNvSpPr/>
          <p:nvPr/>
        </p:nvSpPr>
        <p:spPr>
          <a:xfrm>
            <a:off x="457200" y="3008376"/>
            <a:ext cx="256032" cy="256032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3008376"/>
            <a:ext cx="182880" cy="18288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22960" y="2898648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Only the pro was confirming job completion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3108960" y="2889504"/>
            <a:ext cx="2606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34155"/>
                </a:solidFill>
              </a:rPr>
              <a:t>Reality: Pro marks done → payment releases. The customer had no say.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5806440" y="2926080"/>
            <a:ext cx="0" cy="438912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5897880" y="2889504"/>
            <a:ext cx="2788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Fix: Both parties must confirm. Review, guarantee, and payment all unlock after customer confirms.</a:t>
            </a:r>
            <a:endParaRPr lang="en-US" sz="850" dirty="0"/>
          </a:p>
        </p:txBody>
      </p:sp>
      <p:sp>
        <p:nvSpPr>
          <p:cNvPr id="28" name="Shape 23"/>
          <p:cNvSpPr/>
          <p:nvPr/>
        </p:nvSpPr>
        <p:spPr>
          <a:xfrm>
            <a:off x="365760" y="3557016"/>
            <a:ext cx="8412480" cy="621792"/>
          </a:xfrm>
          <a:prstGeom prst="roundRect">
            <a:avLst>
              <a:gd name="adj" fmla="val 13235"/>
            </a:avLst>
          </a:prstGeom>
          <a:solidFill>
            <a:srgbClr val="0D9488">
              <a:alpha val="9000"/>
            </a:srgbClr>
          </a:solidFill>
          <a:ln/>
        </p:spPr>
      </p:sp>
      <p:sp>
        <p:nvSpPr>
          <p:cNvPr id="29" name="Shape 24"/>
          <p:cNvSpPr/>
          <p:nvPr/>
        </p:nvSpPr>
        <p:spPr>
          <a:xfrm>
            <a:off x="457200" y="3730752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" y="3730752"/>
            <a:ext cx="182880" cy="18288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822960" y="3621024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The availability toggle was cosmetic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3108960" y="3611880"/>
            <a:ext cx="2606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34155"/>
                </a:solidFill>
              </a:rPr>
              <a:t>Reality: It existed in the wireframe but didn't actually gate booking requests.</a:t>
            </a:r>
            <a:endParaRPr lang="en-US" sz="850" dirty="0"/>
          </a:p>
        </p:txBody>
      </p:sp>
      <p:sp>
        <p:nvSpPr>
          <p:cNvPr id="33" name="Shape 27"/>
          <p:cNvSpPr/>
          <p:nvPr/>
        </p:nvSpPr>
        <p:spPr>
          <a:xfrm>
            <a:off x="5806440" y="3648456"/>
            <a:ext cx="0" cy="438912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5897880" y="3611880"/>
            <a:ext cx="2788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Fix: Toggle now actively stops incoming requests. Offline = no new bookings. Simple, essential.</a:t>
            </a:r>
            <a:endParaRPr lang="en-US" sz="850" dirty="0"/>
          </a:p>
        </p:txBody>
      </p:sp>
      <p:sp>
        <p:nvSpPr>
          <p:cNvPr id="35" name="Shape 29"/>
          <p:cNvSpPr/>
          <p:nvPr/>
        </p:nvSpPr>
        <p:spPr>
          <a:xfrm>
            <a:off x="365760" y="4279392"/>
            <a:ext cx="8412480" cy="621792"/>
          </a:xfrm>
          <a:prstGeom prst="roundRect">
            <a:avLst>
              <a:gd name="adj" fmla="val 13235"/>
            </a:avLst>
          </a:prstGeom>
          <a:solidFill>
            <a:srgbClr val="0F2044">
              <a:alpha val="9000"/>
            </a:srgbClr>
          </a:solidFill>
          <a:ln/>
        </p:spPr>
      </p:sp>
      <p:sp>
        <p:nvSpPr>
          <p:cNvPr id="36" name="Shape 30"/>
          <p:cNvSpPr/>
          <p:nvPr/>
        </p:nvSpPr>
        <p:spPr>
          <a:xfrm>
            <a:off x="457200" y="4453128"/>
            <a:ext cx="256032" cy="256032"/>
          </a:xfrm>
          <a:prstGeom prst="ellipse">
            <a:avLst/>
          </a:prstGeom>
          <a:solidFill>
            <a:srgbClr val="0F2044"/>
          </a:solidFill>
          <a:ln/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" y="4453128"/>
            <a:ext cx="182880" cy="182880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822960" y="434340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044"/>
                </a:solidFill>
              </a:rPr>
              <a:t>We nearly removed cash payment</a:t>
            </a:r>
            <a:endParaRPr lang="en-US" sz="1000" dirty="0"/>
          </a:p>
        </p:txBody>
      </p:sp>
      <p:sp>
        <p:nvSpPr>
          <p:cNvPr id="39" name="Text 32"/>
          <p:cNvSpPr/>
          <p:nvPr/>
        </p:nvSpPr>
        <p:spPr>
          <a:xfrm>
            <a:off x="3108960" y="4334256"/>
            <a:ext cx="2606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34155"/>
                </a:solidFill>
              </a:rPr>
              <a:t>Reality: UPI and card felt modern. Cash felt like a concession.</a:t>
            </a:r>
            <a:endParaRPr lang="en-US" sz="850" dirty="0"/>
          </a:p>
        </p:txBody>
      </p:sp>
      <p:sp>
        <p:nvSpPr>
          <p:cNvPr id="40" name="Shape 33"/>
          <p:cNvSpPr/>
          <p:nvPr/>
        </p:nvSpPr>
        <p:spPr>
          <a:xfrm>
            <a:off x="5806440" y="4370832"/>
            <a:ext cx="0" cy="438912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4"/>
          <p:cNvSpPr/>
          <p:nvPr/>
        </p:nvSpPr>
        <p:spPr>
          <a:xfrm>
            <a:off x="5897880" y="4334256"/>
            <a:ext cx="2788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Fix: Kept it. Removing cash would kill supply-side adoption in Tier-2. Trust isn't always digital.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7315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CHOSE TO BUILD — AND WHAT WE SKIPPED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06640" y="310896"/>
            <a:ext cx="1645920" cy="237744"/>
          </a:xfrm>
          <a:prstGeom prst="roundRect">
            <a:avLst>
              <a:gd name="adj" fmla="val 30769"/>
            </a:avLst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7406640" y="310896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SLIDE 03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</a:rPr>
              <a:t>We picked the flows you can't validate on paper. Everything else is left for real engineers.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325880"/>
            <a:ext cx="4937760" cy="3584448"/>
          </a:xfrm>
          <a:prstGeom prst="roundRect">
            <a:avLst>
              <a:gd name="adj" fmla="val 3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4264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✅  Built (8 flows)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12064" y="1819656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9488"/>
                </a:solidFill>
              </a:rPr>
              <a:t>●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94944" y="1819656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4155"/>
                </a:solidFill>
              </a:rPr>
              <a:t>OTP login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359152" y="1819656"/>
            <a:ext cx="2724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You can't test trust without a real identity step.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12064" y="219456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9488"/>
                </a:solidFill>
              </a:rPr>
              <a:t>●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94944" y="2194560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4155"/>
                </a:solidFill>
              </a:rPr>
              <a:t>Home + category grid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359152" y="2194560"/>
            <a:ext cx="2724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It's the entry point for 90% of bookings.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12064" y="2569464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9488"/>
                </a:solidFill>
              </a:rPr>
              <a:t>●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94944" y="2569464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4155"/>
                </a:solidFill>
              </a:rPr>
              <a:t>Search + verified toggle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359152" y="2569464"/>
            <a:ext cx="2724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This is where the empty-state bug was hiding.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12064" y="294436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9488"/>
                </a:solidFill>
              </a:rPr>
              <a:t>●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94944" y="2944368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4155"/>
                </a:solidFill>
              </a:rPr>
              <a:t>Pro profile — 3 tabs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359152" y="2944368"/>
            <a:ext cx="2724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Reviews, pricing, and availability are the 3 trust signals.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12064" y="3319272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9488"/>
                </a:solidFill>
              </a:rPr>
              <a:t>●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94944" y="3319272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4155"/>
                </a:solidFill>
              </a:rPr>
              <a:t>3-step booking flow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359152" y="3319272"/>
            <a:ext cx="2724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Every drop-off point lives here. Had to be clickable.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12064" y="3694176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9488"/>
                </a:solidFill>
              </a:rPr>
              <a:t>●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94944" y="3694176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4155"/>
                </a:solidFill>
              </a:rPr>
              <a:t>Confirmed + live tracking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359152" y="3694176"/>
            <a:ext cx="2724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Post-booking anxiety kills re-booking. Had to feel real.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12064" y="406908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9488"/>
                </a:solidFill>
              </a:rPr>
              <a:t>●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94944" y="4069080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4155"/>
                </a:solidFill>
              </a:rPr>
              <a:t>Rating &amp; review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359152" y="4069080"/>
            <a:ext cx="2724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The trust flywheel only works if this completes correctly.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12064" y="4443984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9488"/>
                </a:solidFill>
              </a:rPr>
              <a:t>●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94944" y="4443984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4155"/>
                </a:solidFill>
              </a:rPr>
              <a:t>Pro dashboard (3 screens)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359152" y="4443984"/>
            <a:ext cx="2724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Acceptance flow, jobs list, earnings — all core to pro retention.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486400" y="1325880"/>
            <a:ext cx="3291840" cy="3584448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623560" y="1426464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</a:rPr>
              <a:t>⏭  Deliberately skipped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586984" y="1819656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97316"/>
                </a:solidFill>
              </a:rPr>
              <a:t>○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760720" y="1819656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4155"/>
                </a:solidFill>
              </a:rPr>
              <a:t>In-app chat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760720" y="2075688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WhatsApp covers this at MVP. High build effort, low learning.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586984" y="2523744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97316"/>
                </a:solidFill>
              </a:rPr>
              <a:t>○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760720" y="2523744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4155"/>
                </a:solidFill>
              </a:rPr>
              <a:t>Admin dispute panel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760720" y="2779776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Internal tool. Doesn't need prototyping — just specs.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586984" y="3227832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97316"/>
                </a:solidFill>
              </a:rPr>
              <a:t>○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760720" y="3227832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4155"/>
                </a:solidFill>
              </a:rPr>
              <a:t>KYC document upload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760720" y="3483864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Native device camera. Assumed complete in flow.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586984" y="393192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97316"/>
                </a:solidFill>
              </a:rPr>
              <a:t>○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760720" y="3931920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4155"/>
                </a:solidFill>
              </a:rPr>
              <a:t>Referral &amp; notifications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760720" y="4187952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Growth layer. Not what we needed to validate.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365760" y="4800600"/>
            <a:ext cx="8412480" cy="237744"/>
          </a:xfrm>
          <a:prstGeom prst="roundRect">
            <a:avLst>
              <a:gd name="adj" fmla="val 26923"/>
            </a:avLst>
          </a:prstGeom>
          <a:solidFill>
            <a:srgbClr val="CCFBF1"/>
          </a:solidFill>
          <a:ln/>
        </p:spPr>
      </p:sp>
      <p:sp>
        <p:nvSpPr>
          <p:cNvPr id="48" name="Text 46"/>
          <p:cNvSpPr/>
          <p:nvPr/>
        </p:nvSpPr>
        <p:spPr>
          <a:xfrm>
            <a:off x="365760" y="4800600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2044"/>
                </a:solidFill>
              </a:rPr>
              <a:t>Rule: Build what you can't think your way through. Skip what any developer can figure out from a spec.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CUSTOMER EXPERIENCE — SCREEN BY SCREEN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7406640" y="320040"/>
            <a:ext cx="1645920" cy="237744"/>
          </a:xfrm>
          <a:prstGeom prst="roundRect">
            <a:avLst>
              <a:gd name="adj" fmla="val 30769"/>
            </a:avLst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7406640" y="320040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SLIDE 04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CFBF1"/>
                </a:solidFill>
              </a:rPr>
              <a:t>8 screens · Every trust gate is live · Both sides of the confirmation enforced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1920240" cy="1572768"/>
          </a:xfrm>
          <a:prstGeom prst="roundRect">
            <a:avLst>
              <a:gd name="adj" fmla="val 5814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344168"/>
            <a:ext cx="329184" cy="32918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3441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7830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OTP Login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14884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B4C8"/>
                </a:solidFill>
              </a:rPr>
              <a:t>Phone → 6-digit OTP → profile. No email, no password. Verified phone is the identity.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487168" y="1234440"/>
            <a:ext cx="1920240" cy="1572768"/>
          </a:xfrm>
          <a:prstGeom prst="roundRect">
            <a:avLst>
              <a:gd name="adj" fmla="val 5814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578608" y="1344168"/>
            <a:ext cx="329184" cy="329184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3" name="Text 11"/>
          <p:cNvSpPr/>
          <p:nvPr/>
        </p:nvSpPr>
        <p:spPr>
          <a:xfrm>
            <a:off x="2578608" y="13441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78608" y="17830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Home Screen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78608" y="214884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B4C8"/>
                </a:solidFill>
              </a:rPr>
              <a:t>Category grid + top-rated pros. Verified badge shows by default. Hi [name] feels personal.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608576" y="1234440"/>
            <a:ext cx="1920240" cy="1572768"/>
          </a:xfrm>
          <a:prstGeom prst="roundRect">
            <a:avLst>
              <a:gd name="adj" fmla="val 5814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700016" y="1344168"/>
            <a:ext cx="329184" cy="32918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4700016" y="13441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00016" y="17830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Search + Filter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00016" y="214884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B4C8"/>
                </a:solidFill>
              </a:rPr>
              <a:t>KYC toggle is live. Turn it off — empty state tells you why and what to do next.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729984" y="1234440"/>
            <a:ext cx="1920240" cy="1572768"/>
          </a:xfrm>
          <a:prstGeom prst="roundRect">
            <a:avLst>
              <a:gd name="adj" fmla="val 5814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821424" y="1344168"/>
            <a:ext cx="329184" cy="32918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3" name="Text 21"/>
          <p:cNvSpPr/>
          <p:nvPr/>
        </p:nvSpPr>
        <p:spPr>
          <a:xfrm>
            <a:off x="6821424" y="13441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21424" y="17830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Pro Profile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21424" y="214884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B4C8"/>
                </a:solidFill>
              </a:rPr>
              <a:t>Three tabs: Overview, Reviews, Pricing. Verified badge, job count, transparent rates.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65760" y="2971800"/>
            <a:ext cx="1920240" cy="1572768"/>
          </a:xfrm>
          <a:prstGeom prst="roundRect">
            <a:avLst>
              <a:gd name="adj" fmla="val 5814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57200" y="3081528"/>
            <a:ext cx="329184" cy="32918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3081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35204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Book (3 steps)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388620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B4C8"/>
                </a:solidFill>
              </a:rPr>
              <a:t>Date → address + service → payment with full breakdown. Guarantee badge at checkout.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487168" y="2971800"/>
            <a:ext cx="1920240" cy="1572768"/>
          </a:xfrm>
          <a:prstGeom prst="roundRect">
            <a:avLst>
              <a:gd name="adj" fmla="val 5814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2578608" y="3081528"/>
            <a:ext cx="329184" cy="329184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3" name="Text 31"/>
          <p:cNvSpPr/>
          <p:nvPr/>
        </p:nvSpPr>
        <p:spPr>
          <a:xfrm>
            <a:off x="2578608" y="3081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578608" y="35204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Confirmed + Track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578608" y="388620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B4C8"/>
                </a:solidFill>
              </a:rPr>
              <a:t>Booking card → map tracking → 5-step progress bar. 'Simulate complete' for testing.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608576" y="2971800"/>
            <a:ext cx="1920240" cy="1572768"/>
          </a:xfrm>
          <a:prstGeom prst="roundRect">
            <a:avLst>
              <a:gd name="adj" fmla="val 5814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700016" y="3081528"/>
            <a:ext cx="329184" cy="32918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8" name="Text 36"/>
          <p:cNvSpPr/>
          <p:nvPr/>
        </p:nvSpPr>
        <p:spPr>
          <a:xfrm>
            <a:off x="4700016" y="3081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07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700016" y="35204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Rate &amp; Review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700016" y="388620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B4C8"/>
                </a:solidFill>
              </a:rPr>
              <a:t>Stars → quick tags → optional text. 7-day guarantee activates only on submit.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7315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PROFESSIONAL EXPERIENCE — WHAT WE LEARNED BUILDING IT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06640" y="310896"/>
            <a:ext cx="1645920" cy="237744"/>
          </a:xfrm>
          <a:prstGeom prst="roundRect">
            <a:avLst>
              <a:gd name="adj" fmla="val 30769"/>
            </a:avLst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7406640" y="310896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SLIDE 05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</a:rPr>
              <a:t>Three screens. Each one revealed something the wireframe had quietly glossed over.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2651760" cy="3584448"/>
          </a:xfrm>
          <a:prstGeom prst="roundRect">
            <a:avLst>
              <a:gd name="adj" fmla="val 4138"/>
            </a:avLst>
          </a:prstGeom>
          <a:solidFill>
            <a:srgbClr val="0D9488">
              <a:alpha val="8000"/>
            </a:srgbClr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371600"/>
            <a:ext cx="2651760" cy="457200"/>
          </a:xfrm>
          <a:prstGeom prst="roundRect">
            <a:avLst>
              <a:gd name="adj" fmla="val 24000"/>
            </a:avLst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3716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Dashboard — Home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938528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→  Toggle is live — offline means zero incoming requests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57200" y="2395728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→  Booking request shows customer name, job, distance, pay, countdown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57200" y="2852928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→  One tap to accept. Accepted state shows navigation prompt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57200" y="3310128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→  Stats visible at top: earnings, jobs, rating — context before deciding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7200" y="4251960"/>
            <a:ext cx="2468880" cy="594360"/>
          </a:xfrm>
          <a:prstGeom prst="roundRect">
            <a:avLst>
              <a:gd name="adj" fmla="val 12308"/>
            </a:avLst>
          </a:prstGeom>
          <a:solidFill>
            <a:srgbClr val="0D9488">
              <a:alpha val="16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4270248"/>
            <a:ext cx="237744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34155"/>
                </a:solidFill>
              </a:rPr>
              <a:t>What we learned: pros don't just want jobs — they want to know if the job is worth their time before tapping accept.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246120" y="1371600"/>
            <a:ext cx="2651760" cy="3584448"/>
          </a:xfrm>
          <a:prstGeom prst="roundRect">
            <a:avLst>
              <a:gd name="adj" fmla="val 4138"/>
            </a:avLst>
          </a:prstGeom>
          <a:solidFill>
            <a:srgbClr val="0F2044">
              <a:alpha val="8000"/>
            </a:srgbClr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46120" y="1371600"/>
            <a:ext cx="2651760" cy="457200"/>
          </a:xfrm>
          <a:prstGeom prst="roundRect">
            <a:avLst>
              <a:gd name="adj" fmla="val 24000"/>
            </a:avLst>
          </a:prstGeom>
          <a:solidFill>
            <a:srgbClr val="0F2044"/>
          </a:solidFill>
          <a:ln/>
        </p:spPr>
      </p:sp>
      <p:sp>
        <p:nvSpPr>
          <p:cNvPr id="18" name="Text 16"/>
          <p:cNvSpPr/>
          <p:nvPr/>
        </p:nvSpPr>
        <p:spPr>
          <a:xfrm>
            <a:off x="3337560" y="13716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Jobs List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37560" y="1938528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→  Tabs: Upcoming / Completed / Cancelled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337560" y="2395728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→  Each job shows the customer, time slot, and confirmed price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337560" y="2852928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→  Active jobs have a Navigate CTA — no extra steps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337560" y="3310128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→  Completed jobs show the rating the customer left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337560" y="4251960"/>
            <a:ext cx="2468880" cy="594360"/>
          </a:xfrm>
          <a:prstGeom prst="roundRect">
            <a:avLst>
              <a:gd name="adj" fmla="val 12308"/>
            </a:avLst>
          </a:prstGeom>
          <a:solidFill>
            <a:srgbClr val="0F2044">
              <a:alpha val="16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3383280" y="4270248"/>
            <a:ext cx="237744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34155"/>
                </a:solidFill>
              </a:rPr>
              <a:t>What we learned: showing earnings per job matters more than the total. Pros mentally compare jobs before accepting.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6126480" y="1371600"/>
            <a:ext cx="2651760" cy="3584448"/>
          </a:xfrm>
          <a:prstGeom prst="roundRect">
            <a:avLst>
              <a:gd name="adj" fmla="val 4138"/>
            </a:avLst>
          </a:prstGeom>
          <a:solidFill>
            <a:srgbClr val="F97316">
              <a:alpha val="8000"/>
            </a:srgbClr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26480" y="1371600"/>
            <a:ext cx="2651760" cy="457200"/>
          </a:xfrm>
          <a:prstGeom prst="roundRect">
            <a:avLst>
              <a:gd name="adj" fmla="val 24000"/>
            </a:avLst>
          </a:prstGeom>
          <a:solidFill>
            <a:srgbClr val="F97316"/>
          </a:solidFill>
          <a:ln/>
        </p:spPr>
      </p:sp>
      <p:sp>
        <p:nvSpPr>
          <p:cNvPr id="27" name="Text 25"/>
          <p:cNvSpPr/>
          <p:nvPr/>
        </p:nvSpPr>
        <p:spPr>
          <a:xfrm>
            <a:off x="6217920" y="13716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Earnings Dashboard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17920" y="1938528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→  Monthly total with % change vs last month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217920" y="2395728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→  Available vs. pending clearance split — not just one number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217920" y="2852928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→  Per-job average shown alongside total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217920" y="3310128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→  Withdraw button only unlocks after clearance period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217920" y="4251960"/>
            <a:ext cx="2468880" cy="594360"/>
          </a:xfrm>
          <a:prstGeom prst="roundRect">
            <a:avLst>
              <a:gd name="adj" fmla="val 12308"/>
            </a:avLst>
          </a:prstGeom>
          <a:solidFill>
            <a:srgbClr val="F97316">
              <a:alpha val="16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6263640" y="4270248"/>
            <a:ext cx="237744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34155"/>
                </a:solidFill>
              </a:rPr>
              <a:t>What we learned: 'pending vs available' is not a nice-to-have. Pros need to know when money arrives, not just how much.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ACTUALLY BUILT THIS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406640" y="320040"/>
            <a:ext cx="1645920" cy="237744"/>
          </a:xfrm>
          <a:prstGeom prst="roundRect">
            <a:avLst>
              <a:gd name="adj" fmla="val 30769"/>
            </a:avLst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7406640" y="320040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SLIDE 06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CFBF1"/>
                </a:solidFill>
              </a:rPr>
              <a:t>No Figma. No React boilerplate. Just Claude, a browser, and iteration.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4160520" cy="1737360"/>
          </a:xfrm>
          <a:prstGeom prst="roundRect">
            <a:avLst>
              <a:gd name="adj" fmla="val 6316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243584"/>
            <a:ext cx="438912" cy="438912"/>
          </a:xfrm>
          <a:prstGeom prst="ellipse">
            <a:avLst/>
          </a:prstGeom>
          <a:solidFill>
            <a:srgbClr val="0D9488">
              <a:alpha val="82000"/>
            </a:srgbClr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" y="128016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126187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Claude as the builder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02920" y="1682496"/>
            <a:ext cx="385876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B4C8"/>
                </a:solidFill>
              </a:rPr>
              <a:t>Described each screen in plain language. Claude wrote the code. Tested in browser. Found a bug. Described it. Fixed it. That loop — repeated 30+ times — is what vibe coding actually looks like.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502920" y="2505456"/>
            <a:ext cx="3858768" cy="201168"/>
          </a:xfrm>
          <a:prstGeom prst="roundRect">
            <a:avLst>
              <a:gd name="adj" fmla="val 27273"/>
            </a:avLst>
          </a:prstGeom>
          <a:solidFill>
            <a:srgbClr val="0D9488">
              <a:alpha val="24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548640" y="251460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~6 hours total  ·  ~700 lines  ·  0 npm packages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800600" y="1078992"/>
            <a:ext cx="4160520" cy="1737360"/>
          </a:xfrm>
          <a:prstGeom prst="roundRect">
            <a:avLst>
              <a:gd name="adj" fmla="val 6316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4937760" y="1243584"/>
            <a:ext cx="438912" cy="438912"/>
          </a:xfrm>
          <a:prstGeom prst="ellipse">
            <a:avLst/>
          </a:prstGeom>
          <a:solidFill>
            <a:srgbClr val="F59E0B">
              <a:alpha val="82000"/>
            </a:srgbClr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4336" y="1280160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532120" y="126187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Vanilla JS + CSS custom properties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937760" y="1682496"/>
            <a:ext cx="385876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B4C8"/>
                </a:solidFill>
              </a:rPr>
              <a:t>A single state object drives all 12 screens. Every tap updates state → re-renders the screen. No framework, no build step, no bundler. Runs in any browser.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4937760" y="2505456"/>
            <a:ext cx="3858768" cy="201168"/>
          </a:xfrm>
          <a:prstGeom prst="roundRect">
            <a:avLst>
              <a:gd name="adj" fmla="val 27273"/>
            </a:avLst>
          </a:prstGeom>
          <a:solidFill>
            <a:srgbClr val="F59E0B">
              <a:alpha val="24000"/>
            </a:srgbClr>
          </a:solidFill>
          <a:ln/>
        </p:spPr>
      </p:sp>
      <p:sp>
        <p:nvSpPr>
          <p:cNvPr id="19" name="Text 15"/>
          <p:cNvSpPr/>
          <p:nvPr/>
        </p:nvSpPr>
        <p:spPr>
          <a:xfrm>
            <a:off x="4983480" y="251460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Single file  ·  Exportable to React in &lt;1hr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365760" y="3035808"/>
            <a:ext cx="4160520" cy="1737360"/>
          </a:xfrm>
          <a:prstGeom prst="roundRect">
            <a:avLst>
              <a:gd name="adj" fmla="val 6316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21" name="Shape 17"/>
          <p:cNvSpPr/>
          <p:nvPr/>
        </p:nvSpPr>
        <p:spPr>
          <a:xfrm>
            <a:off x="502920" y="3200400"/>
            <a:ext cx="438912" cy="438912"/>
          </a:xfrm>
          <a:prstGeom prst="ellipse">
            <a:avLst/>
          </a:prstGeom>
          <a:solidFill>
            <a:srgbClr val="F97316">
              <a:alpha val="82000"/>
            </a:srgbClr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" y="3236976"/>
            <a:ext cx="274320" cy="2743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097280" y="321868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Why not Figma or a no-code tool?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502920" y="3639312"/>
            <a:ext cx="385876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B4C8"/>
                </a:solidFill>
              </a:rPr>
              <a:t>Figma prototypes look interactive but break the moment you try real data, conditional logic, or empty states. Vibe coding forced us to handle every state — that's where the 5 gaps surfaced.</a:t>
            </a:r>
            <a:endParaRPr lang="en-US" sz="850" dirty="0"/>
          </a:p>
        </p:txBody>
      </p:sp>
      <p:sp>
        <p:nvSpPr>
          <p:cNvPr id="25" name="Shape 20"/>
          <p:cNvSpPr/>
          <p:nvPr/>
        </p:nvSpPr>
        <p:spPr>
          <a:xfrm>
            <a:off x="502920" y="4462272"/>
            <a:ext cx="3858768" cy="201168"/>
          </a:xfrm>
          <a:prstGeom prst="roundRect">
            <a:avLst>
              <a:gd name="adj" fmla="val 27273"/>
            </a:avLst>
          </a:prstGeom>
          <a:solidFill>
            <a:srgbClr val="F97316">
              <a:alpha val="24000"/>
            </a:srgbClr>
          </a:solidFill>
          <a:ln/>
        </p:spPr>
      </p:sp>
      <p:sp>
        <p:nvSpPr>
          <p:cNvPr id="26" name="Text 21"/>
          <p:cNvSpPr/>
          <p:nvPr/>
        </p:nvSpPr>
        <p:spPr>
          <a:xfrm>
            <a:off x="548640" y="4471416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Real interactivity → real product decisions</a:t>
            </a:r>
            <a:endParaRPr lang="en-US" sz="800" dirty="0"/>
          </a:p>
        </p:txBody>
      </p:sp>
      <p:sp>
        <p:nvSpPr>
          <p:cNvPr id="27" name="Shape 22"/>
          <p:cNvSpPr/>
          <p:nvPr/>
        </p:nvSpPr>
        <p:spPr>
          <a:xfrm>
            <a:off x="4800600" y="3035808"/>
            <a:ext cx="4160520" cy="1737360"/>
          </a:xfrm>
          <a:prstGeom prst="roundRect">
            <a:avLst>
              <a:gd name="adj" fmla="val 6316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28" name="Shape 23"/>
          <p:cNvSpPr/>
          <p:nvPr/>
        </p:nvSpPr>
        <p:spPr>
          <a:xfrm>
            <a:off x="4937760" y="3200400"/>
            <a:ext cx="438912" cy="438912"/>
          </a:xfrm>
          <a:prstGeom prst="ellipse">
            <a:avLst/>
          </a:prstGeom>
          <a:solidFill>
            <a:srgbClr val="14B8A6">
              <a:alpha val="82000"/>
            </a:srgbClr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4336" y="3236976"/>
            <a:ext cx="274320" cy="27432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532120" y="321868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What the tool taught us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4937760" y="3639312"/>
            <a:ext cx="385876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B4C8"/>
                </a:solidFill>
              </a:rPr>
              <a:t>You can describe a screen in 2 minutes. Wiring two screens together takes 10. Handling every edge case between them takes another hour. That gap is where most product thinking lives.</a:t>
            </a:r>
            <a:endParaRPr lang="en-US" sz="850" dirty="0"/>
          </a:p>
        </p:txBody>
      </p:sp>
      <p:sp>
        <p:nvSpPr>
          <p:cNvPr id="32" name="Shape 26"/>
          <p:cNvSpPr/>
          <p:nvPr/>
        </p:nvSpPr>
        <p:spPr>
          <a:xfrm>
            <a:off x="4937760" y="4462272"/>
            <a:ext cx="3858768" cy="201168"/>
          </a:xfrm>
          <a:prstGeom prst="roundRect">
            <a:avLst>
              <a:gd name="adj" fmla="val 27273"/>
            </a:avLst>
          </a:prstGeom>
          <a:solidFill>
            <a:srgbClr val="14B8A6">
              <a:alpha val="24000"/>
            </a:srgbClr>
          </a:solidFill>
          <a:ln/>
        </p:spPr>
      </p:sp>
      <p:sp>
        <p:nvSpPr>
          <p:cNvPr id="33" name="Text 27"/>
          <p:cNvSpPr/>
          <p:nvPr/>
        </p:nvSpPr>
        <p:spPr>
          <a:xfrm>
            <a:off x="4983480" y="4471416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The building is the thinking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7315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OUR THINKING ACTUALLY CHANGED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06640" y="310896"/>
            <a:ext cx="1645920" cy="237744"/>
          </a:xfrm>
          <a:prstGeom prst="roundRect">
            <a:avLst>
              <a:gd name="adj" fmla="val 30769"/>
            </a:avLst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7406640" y="310896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SLIDE 07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</a:rPr>
              <a:t>Not every assumption was wrong. But five of them were — and building is what caught them.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325880"/>
            <a:ext cx="1828800" cy="274320"/>
          </a:xfrm>
          <a:prstGeom prst="roundRect">
            <a:avLst>
              <a:gd name="adj" fmla="val 20000"/>
            </a:avLst>
          </a:prstGeom>
          <a:solidFill>
            <a:srgbClr val="0F2044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325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What we got wrong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0" y="1325880"/>
            <a:ext cx="2651760" cy="274320"/>
          </a:xfrm>
          <a:prstGeom prst="roundRect">
            <a:avLst>
              <a:gd name="adj" fmla="val 20000"/>
            </a:avLst>
          </a:prstGeom>
          <a:solidFill>
            <a:srgbClr val="0F2044"/>
          </a:solidFill>
          <a:ln/>
        </p:spPr>
      </p:sp>
      <p:sp>
        <p:nvSpPr>
          <p:cNvPr id="10" name="Text 8"/>
          <p:cNvSpPr/>
          <p:nvPr/>
        </p:nvSpPr>
        <p:spPr>
          <a:xfrm>
            <a:off x="2286000" y="13258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What we assumed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47488" y="1325880"/>
            <a:ext cx="3730752" cy="274320"/>
          </a:xfrm>
          <a:prstGeom prst="roundRect">
            <a:avLst>
              <a:gd name="adj" fmla="val 20000"/>
            </a:avLst>
          </a:prstGeom>
          <a:solidFill>
            <a:srgbClr val="0F2044"/>
          </a:solidFill>
          <a:ln/>
        </p:spPr>
      </p:sp>
      <p:sp>
        <p:nvSpPr>
          <p:cNvPr id="12" name="Text 10"/>
          <p:cNvSpPr/>
          <p:nvPr/>
        </p:nvSpPr>
        <p:spPr>
          <a:xfrm>
            <a:off x="5047488" y="1325880"/>
            <a:ext cx="3730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How we fixed it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1709928"/>
            <a:ext cx="8412480" cy="548640"/>
          </a:xfrm>
          <a:prstGeom prst="roundRect">
            <a:avLst>
              <a:gd name="adj" fmla="val 13333"/>
            </a:avLst>
          </a:prstGeom>
          <a:solidFill>
            <a:srgbClr val="EF4444">
              <a:alpha val="1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231136" y="1764792"/>
            <a:ext cx="0" cy="438912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92624" y="1764792"/>
            <a:ext cx="0" cy="438912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" y="1783080"/>
            <a:ext cx="17190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The verified filter empties the screen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350008" y="1783080"/>
            <a:ext cx="25420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34155"/>
                </a:solidFill>
              </a:rPr>
              <a:t>We assumed supply would exist before customers arrived.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111496" y="1783080"/>
            <a:ext cx="36210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Empty-state added. In beta, show all pros. KYC filter is a preference, not a gate.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2340864"/>
            <a:ext cx="8412480" cy="548640"/>
          </a:xfrm>
          <a:prstGeom prst="roundRect">
            <a:avLst>
              <a:gd name="adj" fmla="val 13333"/>
            </a:avLst>
          </a:prstGeom>
          <a:solidFill>
            <a:srgbClr val="F97316">
              <a:alpha val="1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231136" y="2395728"/>
            <a:ext cx="0" cy="438912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92624" y="2395728"/>
            <a:ext cx="0" cy="438912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9768" y="2414016"/>
            <a:ext cx="17190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7316"/>
                </a:solidFill>
              </a:rPr>
              <a:t>Reviews were always unlockable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350008" y="2414016"/>
            <a:ext cx="25420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34155"/>
                </a:solidFill>
              </a:rPr>
              <a:t>Wireframe showed review tab as always visible on pro profiles.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111496" y="2414016"/>
            <a:ext cx="36210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Reviews now locked until both parties confirm the job is done. Fake reviews become impossible.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2971800"/>
            <a:ext cx="8412480" cy="548640"/>
          </a:xfrm>
          <a:prstGeom prst="roundRect">
            <a:avLst>
              <a:gd name="adj" fmla="val 13333"/>
            </a:avLst>
          </a:prstGeom>
          <a:solidFill>
            <a:srgbClr val="0D9488">
              <a:alpha val="1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231136" y="3026664"/>
            <a:ext cx="0" cy="438912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992624" y="3026664"/>
            <a:ext cx="0" cy="438912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9768" y="3044952"/>
            <a:ext cx="17190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Availability toggle was UI decoration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350008" y="3044952"/>
            <a:ext cx="25420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34155"/>
                </a:solidFill>
              </a:rPr>
              <a:t>The toggle existed but didn't block incoming requests for offline pros.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111496" y="3044952"/>
            <a:ext cx="36210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Toggle now gates requests. Offline = no bookings. Became our primary pro retention lever.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65760" y="3602736"/>
            <a:ext cx="8412480" cy="548640"/>
          </a:xfrm>
          <a:prstGeom prst="roundRect">
            <a:avLst>
              <a:gd name="adj" fmla="val 13333"/>
            </a:avLst>
          </a:prstGeom>
          <a:solidFill>
            <a:srgbClr val="0F2044">
              <a:alpha val="1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2231136" y="3657600"/>
            <a:ext cx="0" cy="438912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992624" y="3657600"/>
            <a:ext cx="0" cy="438912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9768" y="3675888"/>
            <a:ext cx="17190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044"/>
                </a:solidFill>
              </a:rPr>
              <a:t>One party confirming job completion was enough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350008" y="3675888"/>
            <a:ext cx="25420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34155"/>
                </a:solidFill>
              </a:rPr>
              <a:t>Pro marks done → payment releases. Customer had no input.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111496" y="3675888"/>
            <a:ext cx="36210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Dual confirmation required. Payment, review, and guarantee all wait for the customer.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65760" y="4233672"/>
            <a:ext cx="8412480" cy="548640"/>
          </a:xfrm>
          <a:prstGeom prst="roundRect">
            <a:avLst>
              <a:gd name="adj" fmla="val 13333"/>
            </a:avLst>
          </a:prstGeom>
          <a:solidFill>
            <a:srgbClr val="F59E0B">
              <a:alpha val="1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2231136" y="4288536"/>
            <a:ext cx="0" cy="438912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992624" y="4288536"/>
            <a:ext cx="0" cy="438912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29768" y="4306824"/>
            <a:ext cx="17190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Cash was an edge case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350008" y="4306824"/>
            <a:ext cx="25420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34155"/>
                </a:solidFill>
              </a:rPr>
              <a:t>We almost cut cash. UPI felt like the future.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111496" y="4306824"/>
            <a:ext cx="36210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Cash is still ~40% of transactions in Tier-2. Cutting it would have killed supply-side adoption.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7315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CHANGED IN THE MVP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06640" y="310896"/>
            <a:ext cx="1645920" cy="237744"/>
          </a:xfrm>
          <a:prstGeom prst="roundRect">
            <a:avLst>
              <a:gd name="adj" fmla="val 30769"/>
            </a:avLst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7406640" y="310896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SLIDE 08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Mostly unchanged — which means Week 2 prioritisation held up. Three items moved up.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353312"/>
            <a:ext cx="416052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353312"/>
            <a:ext cx="4160520" cy="329184"/>
          </a:xfrm>
          <a:prstGeom prst="roundRect">
            <a:avLst>
              <a:gd name="adj" fmla="val 27778"/>
            </a:avLst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353312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Still Must Have — no change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773936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●  Pro onboarding &amp; KYC (Aadhaar/PAN)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2121408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●  Search + category discovery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2468880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●  3-step booking + confirmation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2816352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●  Post-service ratings &amp; reviews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3163824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●  Payments: UPI, Card, and Cash (yes, Cash)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3511296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●  Digital receipt for every job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800600" y="1353312"/>
            <a:ext cx="416052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00600" y="1353312"/>
            <a:ext cx="4160520" cy="329184"/>
          </a:xfrm>
          <a:prstGeom prst="roundRect">
            <a:avLst>
              <a:gd name="adj" fmla="val 27778"/>
            </a:avLst>
          </a:prstGeom>
          <a:solidFill>
            <a:srgbClr val="F97316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1353312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Moved up → Now Must Have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92040" y="1773936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●  Availability toggle that actually gates requests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892040" y="2121408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●  Empty-state handling for zero-supply searches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92040" y="2468880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●  Dual job-done confirmation by both parties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3127248"/>
            <a:ext cx="416052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127248"/>
            <a:ext cx="4160520" cy="329184"/>
          </a:xfrm>
          <a:prstGeom prst="roundRect">
            <a:avLst>
              <a:gd name="adj" fmla="val 27778"/>
            </a:avLst>
          </a:prstGeom>
          <a:solidFill>
            <a:srgbClr val="0F2044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127248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Still Should Have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3547872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●  Real-time GPS tracking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57200" y="3895344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●  Cancellation &amp; rescheduling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57200" y="4242816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●  Pro earnings dashboard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57200" y="4590288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●  Admin dispute resolution panel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00600" y="3127248"/>
            <a:ext cx="416052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3127248"/>
            <a:ext cx="4160520" cy="329184"/>
          </a:xfrm>
          <a:prstGeom prst="roundRect">
            <a:avLst>
              <a:gd name="adj" fmla="val 27778"/>
            </a:avLst>
          </a:prstGeom>
          <a:solidFill>
            <a:srgbClr val="64748B"/>
          </a:solidFill>
          <a:ln/>
        </p:spPr>
      </p:sp>
      <p:sp>
        <p:nvSpPr>
          <p:cNvPr id="31" name="Text 29"/>
          <p:cNvSpPr/>
          <p:nvPr/>
        </p:nvSpPr>
        <p:spPr>
          <a:xfrm>
            <a:off x="4892040" y="3127248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Still not in v1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92040" y="3547872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●  AR room scanning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892040" y="3895344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●  AI dynamic pricing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892040" y="4242816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●  Referral program (post-launch growth)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7315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UPDATED METRICS &amp; RISKS — THE PROTOTYPE VERSION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06640" y="310896"/>
            <a:ext cx="1645920" cy="237744"/>
          </a:xfrm>
          <a:prstGeom prst="roundRect">
            <a:avLst>
              <a:gd name="adj" fmla="val 30769"/>
            </a:avLst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7406640" y="310896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SLIDE 09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4114800" cy="3950208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05840"/>
            <a:ext cx="4114800" cy="347472"/>
          </a:xfrm>
          <a:prstGeom prst="roundRect">
            <a:avLst>
              <a:gd name="adj" fmla="val 26316"/>
            </a:avLst>
          </a:prstGeom>
          <a:solidFill>
            <a:srgbClr val="0F2044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058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What we're measuring now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48132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North Star still: Successful Bookings per Week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76479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Target: 500 SBW by end of Month 3 — not changing this.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" y="2066544"/>
            <a:ext cx="37490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13055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7316"/>
                </a:solidFill>
              </a:rPr>
              <a:t>New metrics the prototype taught us to track: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496312"/>
            <a:ext cx="146304" cy="14630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4231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4155"/>
                </a:solidFill>
              </a:rPr>
              <a:t>Empty-state conversion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76656" y="266090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Do users who hit zero results toggle the filter and still book?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7200" y="2971800"/>
            <a:ext cx="146304" cy="14630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676656" y="289864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4155"/>
                </a:solidFill>
              </a:rPr>
              <a:t>Dual-confirm rate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76656" y="313639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Does the customer confirm within 2hrs, or do they ghost?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3447288"/>
            <a:ext cx="146304" cy="14630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676656" y="3374136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4155"/>
                </a:solidFill>
              </a:rPr>
              <a:t>Pro availability uptime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76656" y="361188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How many hours a day do active pros stay online? (Target: 6+)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57200" y="3922776"/>
            <a:ext cx="146304" cy="14630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676656" y="3849624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4155"/>
                </a:solidFill>
              </a:rPr>
              <a:t>Booking-to-track rate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76656" y="408736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Do confirmed customers open the tracking screen? (Anxiety signal)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57200" y="4398264"/>
            <a:ext cx="146304" cy="14630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676656" y="432511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4155"/>
                </a:solidFill>
              </a:rPr>
              <a:t>Review submission rate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76656" y="456285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Do completed jobs get rated? Target is 60%+ — flywheel depends on it.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663440" y="1005840"/>
            <a:ext cx="4114800" cy="3950208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1005840"/>
            <a:ext cx="4114800" cy="347472"/>
          </a:xfrm>
          <a:prstGeom prst="roundRect">
            <a:avLst>
              <a:gd name="adj" fmla="val 26316"/>
            </a:avLst>
          </a:prstGeom>
          <a:solidFill>
            <a:srgbClr val="F97316"/>
          </a:solidFill>
          <a:ln/>
        </p:spPr>
      </p:sp>
      <p:sp>
        <p:nvSpPr>
          <p:cNvPr id="30" name="Text 28"/>
          <p:cNvSpPr/>
          <p:nvPr/>
        </p:nvSpPr>
        <p:spPr>
          <a:xfrm>
            <a:off x="4754880" y="10058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New risks we didn't see until we built it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09160" y="1481328"/>
            <a:ext cx="3977640" cy="685800"/>
          </a:xfrm>
          <a:prstGeom prst="roundRect">
            <a:avLst>
              <a:gd name="adj" fmla="val 10667"/>
            </a:avLst>
          </a:prstGeom>
          <a:solidFill>
            <a:srgbClr val="F97316">
              <a:alpha val="1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4800600" y="152704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97316"/>
                </a:solidFill>
              </a:rPr>
              <a:t>The dual-confirm can freeze payments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800600" y="1764792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34155"/>
                </a:solidFill>
              </a:rPr>
              <a:t>Risk: If the customer doesn't confirm, the pro waits for money.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800600" y="1947672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Fix: Auto-confirm after 4 hours unless a dispute is raised.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709160" y="2286000"/>
            <a:ext cx="3977640" cy="685800"/>
          </a:xfrm>
          <a:prstGeom prst="roundRect">
            <a:avLst>
              <a:gd name="adj" fmla="val 10667"/>
            </a:avLst>
          </a:prstGeom>
          <a:solidFill>
            <a:srgbClr val="F97316">
              <a:alpha val="1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4800600" y="233172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97316"/>
                </a:solidFill>
              </a:rPr>
              <a:t>Cash has no paper trail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800600" y="2569464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34155"/>
                </a:solidFill>
              </a:rPr>
              <a:t>Risk: Cash jobs bypass the platform — no proof, no accountability.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800600" y="2752344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Fix: Digital receipt is mandatory even for cash. Work photo required.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709160" y="3090672"/>
            <a:ext cx="3977640" cy="685800"/>
          </a:xfrm>
          <a:prstGeom prst="roundRect">
            <a:avLst>
              <a:gd name="adj" fmla="val 10667"/>
            </a:avLst>
          </a:prstGeom>
          <a:solidFill>
            <a:srgbClr val="F97316">
              <a:alpha val="1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4800600" y="313639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97316"/>
                </a:solidFill>
              </a:rPr>
              <a:t>Pros will game the toggle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800600" y="3374136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34155"/>
                </a:solidFill>
              </a:rPr>
              <a:t>Risk: Go offline during slow hours, back on for big jobs.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800600" y="3557016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Fix: Track acceptance rate. Low rate = visibility penalty in search.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709160" y="3895344"/>
            <a:ext cx="3977640" cy="685800"/>
          </a:xfrm>
          <a:prstGeom prst="roundRect">
            <a:avLst>
              <a:gd name="adj" fmla="val 10667"/>
            </a:avLst>
          </a:prstGeom>
          <a:solidFill>
            <a:srgbClr val="F97316">
              <a:alpha val="1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4800600" y="3941064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97316"/>
                </a:solidFill>
              </a:rPr>
              <a:t>Empty state causes early churn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800600" y="4178808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34155"/>
                </a:solidFill>
              </a:rPr>
              <a:t>Risk: First-time user sees 'no pros' and leaves before finding the toggle.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800600" y="4361688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Fix: Default to all pros in beta. KYC filter is opt-in, not default.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457200"/>
            <a:ext cx="1463040" cy="146304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664208"/>
            <a:ext cx="1280160" cy="1280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50292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TrustFix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274320" y="1170432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FBF1"/>
                </a:solidFill>
              </a:rPr>
              <a:t>Week 3 done.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CFBF1"/>
                </a:solidFill>
              </a:rPr>
              <a:t>We built it.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CFBF1"/>
                </a:solidFill>
              </a:rPr>
              <a:t>We were wrong about some of it.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CFBF1"/>
                </a:solidFill>
              </a:rPr>
              <a:t>We fixed it.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114800" y="804672"/>
            <a:ext cx="4663440" cy="877824"/>
          </a:xfrm>
          <a:prstGeom prst="roundRect">
            <a:avLst>
              <a:gd name="adj" fmla="val 10417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4224528" y="896112"/>
            <a:ext cx="34747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🔗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663440" y="9144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Both journeys are clickable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663440" y="1225296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B4C8"/>
                </a:solidFill>
              </a:rPr>
              <a:t>Customer books. Pro accepts. Tracking works. Review submits. End to end.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114800" y="1810512"/>
            <a:ext cx="4663440" cy="877824"/>
          </a:xfrm>
          <a:prstGeom prst="roundRect">
            <a:avLst>
              <a:gd name="adj" fmla="val 10417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4224528" y="1901952"/>
            <a:ext cx="34747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🧠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4663440" y="19202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 gaps found and closed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663440" y="2231136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B4C8"/>
                </a:solidFill>
              </a:rPr>
              <a:t>Empty state, dual-confirm, toggle gating, cash payments, review timing.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114800" y="2816352"/>
            <a:ext cx="4663440" cy="877824"/>
          </a:xfrm>
          <a:prstGeom prst="roundRect">
            <a:avLst>
              <a:gd name="adj" fmla="val 10417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4224528" y="2907792"/>
            <a:ext cx="34747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4663440" y="29260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MVP got sharper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663440" y="3236976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B4C8"/>
                </a:solidFill>
              </a:rPr>
              <a:t>Three things moved from 'nice to have' to 'this breaks the product without it'.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114800" y="3822192"/>
            <a:ext cx="4663440" cy="877824"/>
          </a:xfrm>
          <a:prstGeom prst="roundRect">
            <a:avLst>
              <a:gd name="adj" fmla="val 10417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4224528" y="3913632"/>
            <a:ext cx="34747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4663440" y="39319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 new things to measure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663440" y="4242816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B4C8"/>
                </a:solidFill>
              </a:rPr>
              <a:t>We couldn't have defined these metrics until we clicked through the flows ourselves.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4114800" y="4754880"/>
            <a:ext cx="4663440" cy="256032"/>
          </a:xfrm>
          <a:prstGeom prst="roundRect">
            <a:avLst>
              <a:gd name="adj" fmla="val 25000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24" name="Text 21"/>
          <p:cNvSpPr/>
          <p:nvPr/>
        </p:nvSpPr>
        <p:spPr>
          <a:xfrm>
            <a:off x="4114800" y="4754880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CCFBF1"/>
                </a:solidFill>
              </a:rPr>
              <a:t>"A wireframe is a promise. A prototype is proof."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TrustFix Week 3</dc:title>
  <dc:subject>PptxGenJS Presentation</dc:subject>
  <dc:creator>PptxGenJS</dc:creator>
  <cp:lastModifiedBy>PptxGenJS</cp:lastModifiedBy>
  <cp:revision>1</cp:revision>
  <dcterms:created xsi:type="dcterms:W3CDTF">2026-07-04T16:35:41Z</dcterms:created>
  <dcterms:modified xsi:type="dcterms:W3CDTF">2026-07-04T16:35:41Z</dcterms:modified>
</cp:coreProperties>
</file>